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7772400" cy="10058400"/>
  <p:notesSz cx="10058400" cy="7772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6" d="100"/>
          <a:sy n="76" d="100"/>
        </p:scale>
        <p:origin x="2958"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bastian Ortiz" userId="773f68a2549011c7" providerId="LiveId" clId="{76860DA8-2F0E-4920-88CB-81A8E296120B}"/>
    <pc:docChg chg="custSel modSld">
      <pc:chgData name="Sebastian Ortiz" userId="773f68a2549011c7" providerId="LiveId" clId="{76860DA8-2F0E-4920-88CB-81A8E296120B}" dt="2026-07-01T23:00:27.096" v="45" actId="478"/>
      <pc:docMkLst>
        <pc:docMk/>
      </pc:docMkLst>
      <pc:sldChg chg="modSp mod">
        <pc:chgData name="Sebastian Ortiz" userId="773f68a2549011c7" providerId="LiveId" clId="{76860DA8-2F0E-4920-88CB-81A8E296120B}" dt="2026-07-01T22:47:29.745" v="1" actId="1076"/>
        <pc:sldMkLst>
          <pc:docMk/>
          <pc:sldMk cId="0" sldId="256"/>
        </pc:sldMkLst>
        <pc:picChg chg="mod">
          <ac:chgData name="Sebastian Ortiz" userId="773f68a2549011c7" providerId="LiveId" clId="{76860DA8-2F0E-4920-88CB-81A8E296120B}" dt="2026-07-01T22:47:29.745" v="1" actId="1076"/>
          <ac:picMkLst>
            <pc:docMk/>
            <pc:sldMk cId="0" sldId="256"/>
            <ac:picMk id="2" creationId="{00000000-0000-0000-0000-000000000000}"/>
          </ac:picMkLst>
        </pc:picChg>
      </pc:sldChg>
      <pc:sldChg chg="delSp modSp mod">
        <pc:chgData name="Sebastian Ortiz" userId="773f68a2549011c7" providerId="LiveId" clId="{76860DA8-2F0E-4920-88CB-81A8E296120B}" dt="2026-07-01T22:52:27.964" v="4" actId="478"/>
        <pc:sldMkLst>
          <pc:docMk/>
          <pc:sldMk cId="0" sldId="259"/>
        </pc:sldMkLst>
        <pc:spChg chg="del">
          <ac:chgData name="Sebastian Ortiz" userId="773f68a2549011c7" providerId="LiveId" clId="{76860DA8-2F0E-4920-88CB-81A8E296120B}" dt="2026-07-01T22:52:24.246" v="2" actId="478"/>
          <ac:spMkLst>
            <pc:docMk/>
            <pc:sldMk cId="0" sldId="259"/>
            <ac:spMk id="10" creationId="{00000000-0000-0000-0000-000000000000}"/>
          </ac:spMkLst>
        </pc:spChg>
        <pc:spChg chg="del mod">
          <ac:chgData name="Sebastian Ortiz" userId="773f68a2549011c7" providerId="LiveId" clId="{76860DA8-2F0E-4920-88CB-81A8E296120B}" dt="2026-07-01T22:52:27.964" v="4" actId="478"/>
          <ac:spMkLst>
            <pc:docMk/>
            <pc:sldMk cId="0" sldId="259"/>
            <ac:spMk id="11" creationId="{00000000-0000-0000-0000-000000000000}"/>
          </ac:spMkLst>
        </pc:spChg>
      </pc:sldChg>
      <pc:sldChg chg="delSp modSp mod">
        <pc:chgData name="Sebastian Ortiz" userId="773f68a2549011c7" providerId="LiveId" clId="{76860DA8-2F0E-4920-88CB-81A8E296120B}" dt="2026-07-01T22:53:33.950" v="7" actId="478"/>
        <pc:sldMkLst>
          <pc:docMk/>
          <pc:sldMk cId="0" sldId="260"/>
        </pc:sldMkLst>
        <pc:spChg chg="del mod">
          <ac:chgData name="Sebastian Ortiz" userId="773f68a2549011c7" providerId="LiveId" clId="{76860DA8-2F0E-4920-88CB-81A8E296120B}" dt="2026-07-01T22:53:31.878" v="6" actId="478"/>
          <ac:spMkLst>
            <pc:docMk/>
            <pc:sldMk cId="0" sldId="260"/>
            <ac:spMk id="12" creationId="{00000000-0000-0000-0000-000000000000}"/>
          </ac:spMkLst>
        </pc:spChg>
        <pc:spChg chg="del">
          <ac:chgData name="Sebastian Ortiz" userId="773f68a2549011c7" providerId="LiveId" clId="{76860DA8-2F0E-4920-88CB-81A8E296120B}" dt="2026-07-01T22:53:33.950" v="7" actId="478"/>
          <ac:spMkLst>
            <pc:docMk/>
            <pc:sldMk cId="0" sldId="260"/>
            <ac:spMk id="13" creationId="{00000000-0000-0000-0000-000000000000}"/>
          </ac:spMkLst>
        </pc:spChg>
      </pc:sldChg>
      <pc:sldChg chg="addSp modSp mod">
        <pc:chgData name="Sebastian Ortiz" userId="773f68a2549011c7" providerId="LiveId" clId="{76860DA8-2F0E-4920-88CB-81A8E296120B}" dt="2026-07-01T22:55:43.992" v="11" actId="14100"/>
        <pc:sldMkLst>
          <pc:docMk/>
          <pc:sldMk cId="0" sldId="261"/>
        </pc:sldMkLst>
        <pc:picChg chg="add mod">
          <ac:chgData name="Sebastian Ortiz" userId="773f68a2549011c7" providerId="LiveId" clId="{76860DA8-2F0E-4920-88CB-81A8E296120B}" dt="2026-07-01T22:55:43.992" v="11" actId="14100"/>
          <ac:picMkLst>
            <pc:docMk/>
            <pc:sldMk cId="0" sldId="261"/>
            <ac:picMk id="23" creationId="{D8680344-AB4D-812B-610A-1FE22BA92EB2}"/>
          </ac:picMkLst>
        </pc:picChg>
      </pc:sldChg>
      <pc:sldChg chg="delSp modSp mod">
        <pc:chgData name="Sebastian Ortiz" userId="773f68a2549011c7" providerId="LiveId" clId="{76860DA8-2F0E-4920-88CB-81A8E296120B}" dt="2026-07-01T22:57:07.860" v="14" actId="478"/>
        <pc:sldMkLst>
          <pc:docMk/>
          <pc:sldMk cId="0" sldId="262"/>
        </pc:sldMkLst>
        <pc:spChg chg="del">
          <ac:chgData name="Sebastian Ortiz" userId="773f68a2549011c7" providerId="LiveId" clId="{76860DA8-2F0E-4920-88CB-81A8E296120B}" dt="2026-07-01T22:57:02.727" v="12" actId="478"/>
          <ac:spMkLst>
            <pc:docMk/>
            <pc:sldMk cId="0" sldId="262"/>
            <ac:spMk id="13" creationId="{00000000-0000-0000-0000-000000000000}"/>
          </ac:spMkLst>
        </pc:spChg>
        <pc:spChg chg="del mod">
          <ac:chgData name="Sebastian Ortiz" userId="773f68a2549011c7" providerId="LiveId" clId="{76860DA8-2F0E-4920-88CB-81A8E296120B}" dt="2026-07-01T22:57:07.860" v="14" actId="478"/>
          <ac:spMkLst>
            <pc:docMk/>
            <pc:sldMk cId="0" sldId="262"/>
            <ac:spMk id="14" creationId="{00000000-0000-0000-0000-000000000000}"/>
          </ac:spMkLst>
        </pc:spChg>
      </pc:sldChg>
      <pc:sldChg chg="delSp mod">
        <pc:chgData name="Sebastian Ortiz" userId="773f68a2549011c7" providerId="LiveId" clId="{76860DA8-2F0E-4920-88CB-81A8E296120B}" dt="2026-07-01T22:58:02.201" v="16" actId="478"/>
        <pc:sldMkLst>
          <pc:docMk/>
          <pc:sldMk cId="0" sldId="264"/>
        </pc:sldMkLst>
        <pc:spChg chg="del">
          <ac:chgData name="Sebastian Ortiz" userId="773f68a2549011c7" providerId="LiveId" clId="{76860DA8-2F0E-4920-88CB-81A8E296120B}" dt="2026-07-01T22:57:58.280" v="15" actId="478"/>
          <ac:spMkLst>
            <pc:docMk/>
            <pc:sldMk cId="0" sldId="264"/>
            <ac:spMk id="12" creationId="{00000000-0000-0000-0000-000000000000}"/>
          </ac:spMkLst>
        </pc:spChg>
        <pc:spChg chg="del">
          <ac:chgData name="Sebastian Ortiz" userId="773f68a2549011c7" providerId="LiveId" clId="{76860DA8-2F0E-4920-88CB-81A8E296120B}" dt="2026-07-01T22:58:02.201" v="16" actId="478"/>
          <ac:spMkLst>
            <pc:docMk/>
            <pc:sldMk cId="0" sldId="264"/>
            <ac:spMk id="13" creationId="{00000000-0000-0000-0000-000000000000}"/>
          </ac:spMkLst>
        </pc:spChg>
      </pc:sldChg>
      <pc:sldChg chg="addSp delSp modSp mod">
        <pc:chgData name="Sebastian Ortiz" userId="773f68a2549011c7" providerId="LiveId" clId="{76860DA8-2F0E-4920-88CB-81A8E296120B}" dt="2026-07-01T22:58:38.344" v="29" actId="1076"/>
        <pc:sldMkLst>
          <pc:docMk/>
          <pc:sldMk cId="0" sldId="265"/>
        </pc:sldMkLst>
        <pc:spChg chg="del">
          <ac:chgData name="Sebastian Ortiz" userId="773f68a2549011c7" providerId="LiveId" clId="{76860DA8-2F0E-4920-88CB-81A8E296120B}" dt="2026-07-01T22:58:37.441" v="28" actId="478"/>
          <ac:spMkLst>
            <pc:docMk/>
            <pc:sldMk cId="0" sldId="265"/>
            <ac:spMk id="4" creationId="{00000000-0000-0000-0000-000000000000}"/>
          </ac:spMkLst>
        </pc:spChg>
        <pc:spChg chg="mod">
          <ac:chgData name="Sebastian Ortiz" userId="773f68a2549011c7" providerId="LiveId" clId="{76860DA8-2F0E-4920-88CB-81A8E296120B}" dt="2026-07-01T22:58:09.386" v="17" actId="6549"/>
          <ac:spMkLst>
            <pc:docMk/>
            <pc:sldMk cId="0" sldId="265"/>
            <ac:spMk id="12" creationId="{00000000-0000-0000-0000-000000000000}"/>
          </ac:spMkLst>
        </pc:spChg>
        <pc:picChg chg="add mod">
          <ac:chgData name="Sebastian Ortiz" userId="773f68a2549011c7" providerId="LiveId" clId="{76860DA8-2F0E-4920-88CB-81A8E296120B}" dt="2026-07-01T22:58:38.344" v="29" actId="1076"/>
          <ac:picMkLst>
            <pc:docMk/>
            <pc:sldMk cId="0" sldId="265"/>
            <ac:picMk id="19" creationId="{1F536A46-ACC4-913F-197B-75A82C7CFF08}"/>
          </ac:picMkLst>
        </pc:picChg>
      </pc:sldChg>
      <pc:sldChg chg="addSp delSp modSp mod">
        <pc:chgData name="Sebastian Ortiz" userId="773f68a2549011c7" providerId="LiveId" clId="{76860DA8-2F0E-4920-88CB-81A8E296120B}" dt="2026-07-01T23:00:27.096" v="45" actId="478"/>
        <pc:sldMkLst>
          <pc:docMk/>
          <pc:sldMk cId="0" sldId="266"/>
        </pc:sldMkLst>
        <pc:spChg chg="del">
          <ac:chgData name="Sebastian Ortiz" userId="773f68a2549011c7" providerId="LiveId" clId="{76860DA8-2F0E-4920-88CB-81A8E296120B}" dt="2026-07-01T23:00:24.664" v="44" actId="478"/>
          <ac:spMkLst>
            <pc:docMk/>
            <pc:sldMk cId="0" sldId="266"/>
            <ac:spMk id="8" creationId="{00000000-0000-0000-0000-000000000000}"/>
          </ac:spMkLst>
        </pc:spChg>
        <pc:spChg chg="del">
          <ac:chgData name="Sebastian Ortiz" userId="773f68a2549011c7" providerId="LiveId" clId="{76860DA8-2F0E-4920-88CB-81A8E296120B}" dt="2026-07-01T23:00:27.096" v="45" actId="478"/>
          <ac:spMkLst>
            <pc:docMk/>
            <pc:sldMk cId="0" sldId="266"/>
            <ac:spMk id="9" creationId="{00000000-0000-0000-0000-000000000000}"/>
          </ac:spMkLst>
        </pc:spChg>
        <pc:spChg chg="del">
          <ac:chgData name="Sebastian Ortiz" userId="773f68a2549011c7" providerId="LiveId" clId="{76860DA8-2F0E-4920-88CB-81A8E296120B}" dt="2026-07-01T22:59:05.122" v="32" actId="478"/>
          <ac:spMkLst>
            <pc:docMk/>
            <pc:sldMk cId="0" sldId="266"/>
            <ac:spMk id="14" creationId="{00000000-0000-0000-0000-000000000000}"/>
          </ac:spMkLst>
        </pc:spChg>
        <pc:spChg chg="del mod">
          <ac:chgData name="Sebastian Ortiz" userId="773f68a2549011c7" providerId="LiveId" clId="{76860DA8-2F0E-4920-88CB-81A8E296120B}" dt="2026-07-01T22:59:04.345" v="31" actId="478"/>
          <ac:spMkLst>
            <pc:docMk/>
            <pc:sldMk cId="0" sldId="266"/>
            <ac:spMk id="15" creationId="{00000000-0000-0000-0000-000000000000}"/>
          </ac:spMkLst>
        </pc:spChg>
        <pc:picChg chg="add mod">
          <ac:chgData name="Sebastian Ortiz" userId="773f68a2549011c7" providerId="LiveId" clId="{76860DA8-2F0E-4920-88CB-81A8E296120B}" dt="2026-07-01T23:00:23.254" v="43" actId="1076"/>
          <ac:picMkLst>
            <pc:docMk/>
            <pc:sldMk cId="0" sldId="266"/>
            <ac:picMk id="22" creationId="{B63E306E-06AF-882B-3B33-9901092457C8}"/>
          </ac:picMkLst>
        </pc:picChg>
      </pc:sldChg>
      <pc:sldChg chg="delSp modSp mod">
        <pc:chgData name="Sebastian Ortiz" userId="773f68a2549011c7" providerId="LiveId" clId="{76860DA8-2F0E-4920-88CB-81A8E296120B}" dt="2026-07-01T22:59:14.080" v="35" actId="478"/>
        <pc:sldMkLst>
          <pc:docMk/>
          <pc:sldMk cId="0" sldId="267"/>
        </pc:sldMkLst>
        <pc:spChg chg="del mod">
          <ac:chgData name="Sebastian Ortiz" userId="773f68a2549011c7" providerId="LiveId" clId="{76860DA8-2F0E-4920-88CB-81A8E296120B}" dt="2026-07-01T22:59:14.080" v="35" actId="478"/>
          <ac:spMkLst>
            <pc:docMk/>
            <pc:sldMk cId="0" sldId="267"/>
            <ac:spMk id="7" creationId="{00000000-0000-0000-0000-000000000000}"/>
          </ac:spMkLst>
        </pc:spChg>
        <pc:spChg chg="del">
          <ac:chgData name="Sebastian Ortiz" userId="773f68a2549011c7" providerId="LiveId" clId="{76860DA8-2F0E-4920-88CB-81A8E296120B}" dt="2026-07-01T22:59:08.810" v="33" actId="478"/>
          <ac:spMkLst>
            <pc:docMk/>
            <pc:sldMk cId="0" sldId="267"/>
            <ac:spMk id="12" creationId="{00000000-0000-0000-0000-000000000000}"/>
          </ac:spMkLst>
        </pc:spChg>
      </pc:sldChg>
      <pc:sldChg chg="delSp modSp mod">
        <pc:chgData name="Sebastian Ortiz" userId="773f68a2549011c7" providerId="LiveId" clId="{76860DA8-2F0E-4920-88CB-81A8E296120B}" dt="2026-07-01T22:59:27.117" v="38" actId="478"/>
        <pc:sldMkLst>
          <pc:docMk/>
          <pc:sldMk cId="0" sldId="269"/>
        </pc:sldMkLst>
        <pc:spChg chg="del">
          <ac:chgData name="Sebastian Ortiz" userId="773f68a2549011c7" providerId="LiveId" clId="{76860DA8-2F0E-4920-88CB-81A8E296120B}" dt="2026-07-01T22:59:23.510" v="36" actId="478"/>
          <ac:spMkLst>
            <pc:docMk/>
            <pc:sldMk cId="0" sldId="269"/>
            <ac:spMk id="10" creationId="{00000000-0000-0000-0000-000000000000}"/>
          </ac:spMkLst>
        </pc:spChg>
        <pc:spChg chg="del mod">
          <ac:chgData name="Sebastian Ortiz" userId="773f68a2549011c7" providerId="LiveId" clId="{76860DA8-2F0E-4920-88CB-81A8E296120B}" dt="2026-07-01T22:59:27.117" v="38" actId="478"/>
          <ac:spMkLst>
            <pc:docMk/>
            <pc:sldMk cId="0" sldId="269"/>
            <ac:spMk id="1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2297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home/claude/cover.png"/>
          <p:cNvPicPr>
            <a:picLocks noChangeAspect="1"/>
          </p:cNvPicPr>
          <p:nvPr/>
        </p:nvPicPr>
        <p:blipFill>
          <a:blip r:embed="rId3"/>
          <a:stretch>
            <a:fillRect/>
          </a:stretch>
        </p:blipFill>
        <p:spPr>
          <a:xfrm>
            <a:off x="-749300" y="-444500"/>
            <a:ext cx="7772400" cy="10058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Table of Contents</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858000" cy="5760720"/>
        </p:xfrm>
        <a:graphic>
          <a:graphicData uri="http://schemas.openxmlformats.org/drawingml/2006/table">
            <a:tbl>
              <a:tblPr/>
              <a:tblGrid>
                <a:gridCol w="914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Page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Entry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I'm building &amp; why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targets I set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Digging into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Running the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Loads &amp; how high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Going round tube + printed joints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differential mess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Nailing the differential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 &amp; getting the wheels level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Shrinking the chassis to 900x600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Picking motors &amp; battery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My FEA plan (targets)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Bill of materials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Where I'm at &amp; what's next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bl>
          </a:graphicData>
        </a:graphic>
      </p:graphicFrame>
      <p:sp>
        <p:nvSpPr>
          <p:cNvPr id="5" name="Shape 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7" name="Text 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8" name="Text 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9" name="Text 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What I'm building &amp; why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idea</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I'm building a low-cost 6-wheel rover that drives itself over rough ground - dirt, gravel, grass - grabs soil and plant samples on its own, and runs actual biology and geology tests onboard. Basically a tiny Mars rover, except I'm doing it with a 3D printer, cheap motors, and a Raspberry Pi instead of a NASA budget. This notebook is my movement/suspension system: how I got from "I want a rover" to an actual Fusion model.</a:t>
            </a:r>
            <a:endParaRPr lang="en-US" sz="1300" dirty="0"/>
          </a:p>
        </p:txBody>
      </p:sp>
      <p:sp>
        <p:nvSpPr>
          <p:cNvPr id="6" name="Text 4"/>
          <p:cNvSpPr/>
          <p:nvPr/>
        </p:nvSpPr>
        <p:spPr>
          <a:xfrm>
            <a:off x="457200" y="265176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it needs to do</a:t>
            </a:r>
            <a:endParaRPr lang="en-US" sz="1100" dirty="0"/>
          </a:p>
        </p:txBody>
      </p:sp>
      <p:sp>
        <p:nvSpPr>
          <p:cNvPr id="7" name="Text 5"/>
          <p:cNvSpPr/>
          <p:nvPr/>
        </p:nvSpPr>
        <p:spPr>
          <a:xfrm>
            <a:off x="548640" y="3017520"/>
            <a:ext cx="6675120" cy="17373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 drive itself - SLAM mapping + AR marker detection
- survive rough terrain - passive rocker-bogie keeps all 6 wheels down
- collect samples - 3-DOF arm with a scoop + sealed container
- run field biology - Biuret protein test + pigment detection with an RGB sensor
- read soil moisture - capacitive sensor
- fall back to teleop - live camera over local WiFi</a:t>
            </a:r>
            <a:endParaRPr lang="en-US" sz="1250" dirty="0"/>
          </a:p>
        </p:txBody>
      </p:sp>
      <p:sp>
        <p:nvSpPr>
          <p:cNvPr id="8" name="Text 6"/>
          <p:cNvSpPr/>
          <p:nvPr/>
        </p:nvSpPr>
        <p:spPr>
          <a:xfrm>
            <a:off x="457200" y="484632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Why rocker-bogie</a:t>
            </a:r>
            <a:endParaRPr lang="en-US" sz="1100" dirty="0"/>
          </a:p>
        </p:txBody>
      </p:sp>
      <p:sp>
        <p:nvSpPr>
          <p:cNvPr id="9" name="Text 7"/>
          <p:cNvSpPr/>
          <p:nvPr/>
        </p:nvSpPr>
        <p:spPr>
          <a:xfrm>
            <a:off x="457200" y="5212080"/>
            <a:ext cx="6858000" cy="100584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with rocker-bogie because it's what the real Mars rovers use (Sojourner, Curiosity, Perseverance). It's fully passive - no springs, no shocks - and the geometry alone keeps at least 4 wheels on the ground no matter how rough it gets. For a rover carrying a delicate onboard lab across unpredictable ground, that's exactly what I want.</a:t>
            </a:r>
            <a:endParaRPr lang="en-US" sz="1250" dirty="0"/>
          </a:p>
        </p:txBody>
      </p:sp>
      <p:sp>
        <p:nvSpPr>
          <p:cNvPr id="10" name="Shape 8"/>
          <p:cNvSpPr/>
          <p:nvPr/>
        </p:nvSpPr>
        <p:spPr>
          <a:xfrm>
            <a:off x="457200" y="6400800"/>
            <a:ext cx="6858000" cy="2834640"/>
          </a:xfrm>
          <a:prstGeom prst="rect">
            <a:avLst/>
          </a:prstGeom>
          <a:solidFill>
            <a:srgbClr val="F4F4F0"/>
          </a:solidFill>
          <a:ln w="12700">
            <a:solidFill>
              <a:srgbClr val="999999"/>
            </a:solidFill>
            <a:prstDash val="dash"/>
          </a:ln>
        </p:spPr>
        <p:txBody>
          <a:bodyPr/>
          <a:lstStyle/>
          <a:p>
            <a:endParaRPr lang="es-CO"/>
          </a:p>
        </p:txBody>
      </p:sp>
      <p:sp>
        <p:nvSpPr>
          <p:cNvPr id="12"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targets I set</a:t>
            </a:r>
            <a:endParaRPr lang="en-US" sz="1800" dirty="0"/>
          </a:p>
        </p:txBody>
      </p:sp>
      <p:sp>
        <p:nvSpPr>
          <p:cNvPr id="4" name="Text 2"/>
          <p:cNvSpPr/>
          <p:nvPr/>
        </p:nvSpPr>
        <p:spPr>
          <a:xfrm>
            <a:off x="457200" y="1097280"/>
            <a:ext cx="6858000" cy="36576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Before touching any math I pinned down what the rover actually had to hit: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858000" cy="3840480"/>
        </p:xfrm>
        <a:graphic>
          <a:graphicData uri="http://schemas.openxmlformats.org/drawingml/2006/table">
            <a:tbl>
              <a:tblPr/>
              <a:tblGrid>
                <a:gridCol w="9144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width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600 mm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900 mm (turns out 1200 wasn't fixed)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150 mm/s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Obstacle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300 mm (1.5 x wheel 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Driven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 (3 per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Suspension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passive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servos on the 4 corner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Terrain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dirt, gravel, grass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Working mass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 kg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457200" y="5760720"/>
            <a:ext cx="3291840" cy="1554480"/>
          </a:xfrm>
          <a:prstGeom prst="rect">
            <a:avLst/>
          </a:prstGeom>
          <a:solidFill>
            <a:srgbClr val="FCEFA6"/>
          </a:solidFill>
          <a:ln w="6350">
            <a:solidFill>
              <a:srgbClr val="AAAAAA"/>
            </a:solidFill>
            <a:prstDash val="solid"/>
          </a:ln>
        </p:spPr>
        <p:txBody>
          <a:bodyPr/>
          <a:lstStyle/>
          <a:p>
            <a:endParaRPr lang="es-CO"/>
          </a:p>
        </p:txBody>
      </p:sp>
      <p:sp>
        <p:nvSpPr>
          <p:cNvPr id="7" name="Text 4"/>
          <p:cNvSpPr/>
          <p:nvPr/>
        </p:nvSpPr>
        <p:spPr>
          <a:xfrm>
            <a:off x="54864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mass kept climbing
</a:t>
            </a:r>
            <a:r>
              <a:rPr lang="en-US" sz="900" dirty="0">
                <a:solidFill>
                  <a:srgbClr val="1A1A1A"/>
                </a:solidFill>
                <a:latin typeface="Calibri" pitchFamily="34" charset="0"/>
                <a:ea typeface="Calibri" pitchFamily="34" charset="-122"/>
                <a:cs typeface="Calibri" pitchFamily="34" charset="-120"/>
              </a:rPr>
              <a:t>I started guessing ~22 kg, then bumped it to 30 kg to be safe once I counted the aluminum frame, the onboard lab, and the sampling arm. That 30 kg is what drove my motor and battery choices later (page 13).</a:t>
            </a:r>
            <a:endParaRPr lang="en-US" sz="1000" dirty="0"/>
          </a:p>
        </p:txBody>
      </p:sp>
      <p:sp>
        <p:nvSpPr>
          <p:cNvPr id="8" name="Shape 5"/>
          <p:cNvSpPr/>
          <p:nvPr/>
        </p:nvSpPr>
        <p:spPr>
          <a:xfrm>
            <a:off x="4023360" y="5760720"/>
            <a:ext cx="3291840" cy="1554480"/>
          </a:xfrm>
          <a:prstGeom prst="rect">
            <a:avLst/>
          </a:prstGeom>
          <a:solidFill>
            <a:srgbClr val="DCE6F2"/>
          </a:solidFill>
          <a:ln w="6350">
            <a:solidFill>
              <a:srgbClr val="AAAAAA"/>
            </a:solidFill>
            <a:prstDash val="solid"/>
          </a:ln>
        </p:spPr>
        <p:txBody>
          <a:bodyPr/>
          <a:lstStyle/>
          <a:p>
            <a:endParaRPr lang="es-CO"/>
          </a:p>
        </p:txBody>
      </p:sp>
      <p:sp>
        <p:nvSpPr>
          <p:cNvPr id="9" name="Text 6"/>
          <p:cNvSpPr/>
          <p:nvPr/>
        </p:nvSpPr>
        <p:spPr>
          <a:xfrm>
            <a:off x="411480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Wheelbase != chassis length
</a:t>
            </a:r>
            <a:r>
              <a:rPr lang="en-US" sz="900" dirty="0">
                <a:solidFill>
                  <a:srgbClr val="1A1A1A"/>
                </a:solidFill>
                <a:latin typeface="Calibri" pitchFamily="34" charset="0"/>
                <a:ea typeface="Calibri" pitchFamily="34" charset="-122"/>
                <a:cs typeface="Calibri" pitchFamily="34" charset="-120"/>
              </a:rPr>
              <a:t>Big realization: I stopped tying the wheelbase to the chassis length. Keeping them independent is what let me shrink the body to 900 mm while keeping a 1000 mm wheelbase - so the wheels wrap the body.</a:t>
            </a:r>
            <a:endParaRPr lang="en-US" sz="10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Digging into rocker-bogie</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read</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didn't want to wing the suspension, so I dug in. Verma et al. (2017) gave me the sizing formulas. Singh &amp; Jain (2020) covered how the load spreads and how the thing climbs. And I went through NASA JPL's Open Source Rover docs to see how they actually build the differential and joints.</a:t>
            </a:r>
            <a:endParaRPr lang="en-US" sz="1250" dirty="0"/>
          </a:p>
        </p:txBody>
      </p:sp>
      <p:sp>
        <p:nvSpPr>
          <p:cNvPr id="6" name="Text 4"/>
          <p:cNvSpPr/>
          <p:nvPr/>
        </p:nvSpPr>
        <p:spPr>
          <a:xfrm>
            <a:off x="457200" y="25146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stuck with me</a:t>
            </a:r>
            <a:endParaRPr lang="en-US" sz="1100" dirty="0"/>
          </a:p>
        </p:txBody>
      </p:sp>
      <p:sp>
        <p:nvSpPr>
          <p:cNvPr id="7" name="Text 5"/>
          <p:cNvSpPr/>
          <p:nvPr/>
        </p:nvSpPr>
        <p:spPr>
          <a:xfrm>
            <a:off x="548640" y="2880360"/>
            <a:ext cx="6675120" cy="137160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6-wheel 3-3 layout </a:t>
            </a:r>
            <a:r>
              <a:rPr lang="en-US" sz="1250" dirty="0">
                <a:solidFill>
                  <a:srgbClr val="1A1A1A"/>
                </a:solidFill>
                <a:latin typeface="Calibri" pitchFamily="34" charset="0"/>
                <a:ea typeface="Calibri" pitchFamily="34" charset="-122"/>
                <a:cs typeface="Calibri" pitchFamily="34" charset="-120"/>
              </a:rPr>
              <a:t>keeps &gt;=4 wheels grounded at all times.
</a:t>
            </a:r>
            <a:r>
              <a:rPr lang="en-US" sz="1250" b="1" dirty="0">
                <a:solidFill>
                  <a:srgbClr val="1A1A1A"/>
                </a:solidFill>
                <a:latin typeface="Calibri" pitchFamily="34" charset="0"/>
                <a:ea typeface="Calibri" pitchFamily="34" charset="-122"/>
                <a:cs typeface="Calibri" pitchFamily="34" charset="-120"/>
              </a:rPr>
              <a:t>It's fully passive </a:t>
            </a:r>
            <a:r>
              <a:rPr lang="en-US" sz="1250" dirty="0">
                <a:solidFill>
                  <a:srgbClr val="1A1A1A"/>
                </a:solidFill>
                <a:latin typeface="Calibri" pitchFamily="34" charset="0"/>
                <a:ea typeface="Calibri" pitchFamily="34" charset="-122"/>
                <a:cs typeface="Calibri" pitchFamily="34" charset="-120"/>
              </a:rPr>
              <a:t>- the geometry does everything, no springs.
</a:t>
            </a:r>
            <a:r>
              <a:rPr lang="en-US" sz="1250" b="1" dirty="0">
                <a:solidFill>
                  <a:srgbClr val="1A1A1A"/>
                </a:solidFill>
                <a:latin typeface="Calibri" pitchFamily="34" charset="0"/>
                <a:ea typeface="Calibri" pitchFamily="34" charset="-122"/>
                <a:cs typeface="Calibri" pitchFamily="34" charset="-120"/>
              </a:rPr>
              <a:t>Bogie pivot position </a:t>
            </a:r>
            <a:r>
              <a:rPr lang="en-US" sz="1250" dirty="0">
                <a:solidFill>
                  <a:srgbClr val="1A1A1A"/>
                </a:solidFill>
                <a:latin typeface="Calibri" pitchFamily="34" charset="0"/>
                <a:ea typeface="Calibri" pitchFamily="34" charset="-122"/>
                <a:cs typeface="Calibri" pitchFamily="34" charset="-120"/>
              </a:rPr>
              <a:t>sets how load splits: Case 1 (offset) = 0.21/0.39/0.40, Case 2 (centered) = 0.30/0.30/0.40.</a:t>
            </a:r>
            <a:endParaRPr lang="en-US" sz="1250" dirty="0"/>
          </a:p>
        </p:txBody>
      </p:sp>
      <p:sp>
        <p:nvSpPr>
          <p:cNvPr id="8" name="Text 6"/>
          <p:cNvSpPr/>
          <p:nvPr/>
        </p:nvSpPr>
        <p:spPr>
          <a:xfrm>
            <a:off x="457200" y="434340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chose</a:t>
            </a:r>
            <a:endParaRPr lang="en-US" sz="1100" dirty="0"/>
          </a:p>
        </p:txBody>
      </p:sp>
      <p:sp>
        <p:nvSpPr>
          <p:cNvPr id="9" name="Text 7"/>
          <p:cNvSpPr/>
          <p:nvPr/>
        </p:nvSpPr>
        <p:spPr>
          <a:xfrm>
            <a:off x="457200" y="47091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Case 2 (centered bogie pivot). Splitting the load evenly between the front and middle wheels means less chance one spins out on loose dirt. Either way the rear wheel carries 40%, which told me the rocker arm is the part I'd need to stress-test hardest.</a:t>
            </a:r>
            <a:endParaRPr lang="en-US" sz="1250" dirty="0"/>
          </a:p>
        </p:txBody>
      </p:sp>
      <p:sp>
        <p:nvSpPr>
          <p:cNvPr id="10" name="Shape 8"/>
          <p:cNvSpPr/>
          <p:nvPr/>
        </p:nvSpPr>
        <p:spPr>
          <a:xfrm>
            <a:off x="457200" y="5760720"/>
            <a:ext cx="6858000" cy="128016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583387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formulas I pulled from Verma
</a:t>
            </a:r>
            <a:r>
              <a:rPr lang="en-US" sz="900" dirty="0">
                <a:solidFill>
                  <a:srgbClr val="1A1A1A"/>
                </a:solidFill>
                <a:latin typeface="Calibri" pitchFamily="34" charset="0"/>
                <a:ea typeface="Calibri" pitchFamily="34" charset="-122"/>
                <a:cs typeface="Calibri" pitchFamily="34" charset="-120"/>
              </a:rPr>
              <a:t>V = pi*D*N/60 (wheel speed) . L = reach/cos(theta) (arm length) . h = reach*tan(theta) (arm height). They used 45deg for climbing stairs; I used gentler 10-15deg since I'm on open ground. Their rule that the differential bar = chassis width is where my axle span came from.</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Running the geometry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Wheel speed</a:t>
            </a:r>
            <a:endParaRPr lang="en-US" sz="1100" dirty="0"/>
          </a:p>
        </p:txBody>
      </p:sp>
      <p:sp>
        <p:nvSpPr>
          <p:cNvPr id="5" name="Text 3"/>
          <p:cNvSpPr/>
          <p:nvPr/>
        </p:nvSpPr>
        <p:spPr>
          <a:xfrm>
            <a:off x="548640" y="1417320"/>
            <a:ext cx="6675120" cy="320040"/>
          </a:xfrm>
          <a:prstGeom prst="rect">
            <a:avLst/>
          </a:prstGeom>
          <a:noFill/>
          <a:ln/>
        </p:spPr>
        <p:txBody>
          <a:bodyPr wrap="square" rtlCol="0" anchor="ctr"/>
          <a:lstStyle/>
          <a:p>
            <a:pPr marL="0" indent="0">
              <a:buNone/>
            </a:pPr>
            <a:r>
              <a:rPr lang="en-US" sz="1250" i="1" dirty="0">
                <a:solidFill>
                  <a:srgbClr val="1A1A1A"/>
                </a:solidFill>
                <a:latin typeface="Courier New" pitchFamily="34" charset="0"/>
                <a:ea typeface="Courier New" pitchFamily="34" charset="-122"/>
                <a:cs typeface="Courier New" pitchFamily="34" charset="-120"/>
              </a:rPr>
              <a:t>N = 60*V / (pi*D) = 60 x 150 / (pi x 200) = 14.32 rpm</a:t>
            </a:r>
            <a:endParaRPr lang="en-US" sz="1250" dirty="0"/>
          </a:p>
        </p:txBody>
      </p:sp>
      <p:sp>
        <p:nvSpPr>
          <p:cNvPr id="6" name="Text 4"/>
          <p:cNvSpPr/>
          <p:nvPr/>
        </p:nvSpPr>
        <p:spPr>
          <a:xfrm>
            <a:off x="548640" y="1783080"/>
            <a:ext cx="6675120" cy="320040"/>
          </a:xfrm>
          <a:prstGeom prst="rect">
            <a:avLst/>
          </a:prstGeom>
          <a:noFill/>
          <a:ln/>
        </p:spPr>
        <p:txBody>
          <a:bodyPr wrap="square" rtlCol="0" anchor="ctr"/>
          <a:lstStyle/>
          <a:p>
            <a:pPr marL="0" indent="0">
              <a:buNone/>
            </a:pPr>
            <a:r>
              <a:rPr lang="en-US" sz="1150" dirty="0">
                <a:solidFill>
                  <a:srgbClr val="666666"/>
                </a:solidFill>
                <a:latin typeface="Calibri" pitchFamily="34" charset="0"/>
                <a:ea typeface="Calibri" pitchFamily="34" charset="-122"/>
                <a:cs typeface="Calibri" pitchFamily="34" charset="-120"/>
              </a:rPr>
              <a:t>So I need ~14.3 rpm at the wheel. Easy for the JGB37 motors - I just regulate down with PWM.</a:t>
            </a:r>
            <a:endParaRPr lang="en-US" sz="1150" dirty="0"/>
          </a:p>
        </p:txBody>
      </p:sp>
      <p:sp>
        <p:nvSpPr>
          <p:cNvPr id="7" name="Text 5"/>
          <p:cNvSpPr/>
          <p:nvPr/>
        </p:nvSpPr>
        <p:spPr>
          <a:xfrm>
            <a:off x="457200" y="224028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the wheels sit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4206240" cy="1865376"/>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X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W1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430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same load as front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W3</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end of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centered W1-W2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meets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4846320" y="2606040"/>
            <a:ext cx="2468880" cy="1874520"/>
          </a:xfrm>
          <a:prstGeom prst="rect">
            <a:avLst/>
          </a:prstGeom>
          <a:solidFill>
            <a:srgbClr val="F4F4F0"/>
          </a:solidFill>
          <a:ln w="12700">
            <a:solidFill>
              <a:srgbClr val="999999"/>
            </a:solidFill>
            <a:prstDash val="dash"/>
          </a:ln>
        </p:spPr>
        <p:txBody>
          <a:bodyPr/>
          <a:lstStyle/>
          <a:p>
            <a:endParaRPr lang="es-CO"/>
          </a:p>
        </p:txBody>
      </p:sp>
      <p:sp>
        <p:nvSpPr>
          <p:cNvPr id="11" name="Text 8"/>
          <p:cNvSpPr/>
          <p:nvPr/>
        </p:nvSpPr>
        <p:spPr>
          <a:xfrm>
            <a:off x="457200" y="47091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Arms &amp; angles</a:t>
            </a:r>
            <a:endParaRPr lang="en-US" sz="1100" dirty="0"/>
          </a:p>
        </p:txBody>
      </p:sp>
      <p:sp>
        <p:nvSpPr>
          <p:cNvPr id="12" name="Text 9"/>
          <p:cNvSpPr/>
          <p:nvPr/>
        </p:nvSpPr>
        <p:spPr>
          <a:xfrm>
            <a:off x="548640" y="5074920"/>
            <a:ext cx="6675120" cy="1005840"/>
          </a:xfrm>
          <a:prstGeom prst="rect">
            <a:avLst/>
          </a:prstGeom>
          <a:noFill/>
          <a:ln/>
        </p:spPr>
        <p:txBody>
          <a:bodyPr wrap="square" rtlCol="0" anchor="t"/>
          <a:lstStyle/>
          <a:p>
            <a:pPr marL="0" indent="0">
              <a:lnSpc>
                <a:spcPct val="112000"/>
              </a:lnSpc>
              <a:buNone/>
            </a:pPr>
            <a:r>
              <a:rPr lang="en-US" sz="1200" b="1" dirty="0">
                <a:solidFill>
                  <a:srgbClr val="1A1A1A"/>
                </a:solidFill>
                <a:latin typeface="Calibri" pitchFamily="34" charset="0"/>
                <a:ea typeface="Calibri" pitchFamily="34" charset="-122"/>
                <a:cs typeface="Calibri" pitchFamily="34" charset="-120"/>
              </a:rPr>
              <a:t>Bogie (theta=15deg): </a:t>
            </a:r>
            <a:r>
              <a:rPr lang="en-US" sz="1200" dirty="0">
                <a:solidFill>
                  <a:srgbClr val="1A1A1A"/>
                </a:solidFill>
                <a:latin typeface="Calibri" pitchFamily="34" charset="0"/>
                <a:ea typeface="Calibri" pitchFamily="34" charset="-122"/>
                <a:cs typeface="Calibri" pitchFamily="34" charset="-120"/>
              </a:rPr>
              <a:t>L = 215/cos15 = 223 mm, h = 57.6 mm -&gt; Joint B at 150deg
</a:t>
            </a:r>
            <a:r>
              <a:rPr lang="en-US" sz="1200" b="1" dirty="0">
                <a:solidFill>
                  <a:srgbClr val="1A1A1A"/>
                </a:solidFill>
                <a:latin typeface="Calibri" pitchFamily="34" charset="0"/>
                <a:ea typeface="Calibri" pitchFamily="34" charset="-122"/>
                <a:cs typeface="Calibri" pitchFamily="34" charset="-120"/>
              </a:rPr>
              <a:t>Rocker (theta=10deg): </a:t>
            </a:r>
            <a:r>
              <a:rPr lang="en-US" sz="1200" dirty="0">
                <a:solidFill>
                  <a:srgbClr val="1A1A1A"/>
                </a:solidFill>
                <a:latin typeface="Calibri" pitchFamily="34" charset="0"/>
                <a:ea typeface="Calibri" pitchFamily="34" charset="-122"/>
                <a:cs typeface="Calibri" pitchFamily="34" charset="-120"/>
              </a:rPr>
              <a:t>Seg-A 401, Seg-B 396 (~800 total) -&gt; Joint A at 160deg</a:t>
            </a:r>
            <a:endParaRPr lang="en-US" sz="1200" dirty="0"/>
          </a:p>
        </p:txBody>
      </p:sp>
      <p:sp>
        <p:nvSpPr>
          <p:cNvPr id="13" name="Shape 10"/>
          <p:cNvSpPr/>
          <p:nvPr/>
        </p:nvSpPr>
        <p:spPr>
          <a:xfrm>
            <a:off x="457200" y="6126480"/>
            <a:ext cx="6858000" cy="1005840"/>
          </a:xfrm>
          <a:prstGeom prst="rect">
            <a:avLst/>
          </a:prstGeom>
          <a:solidFill>
            <a:srgbClr val="FCEFA6"/>
          </a:solidFill>
          <a:ln w="6350">
            <a:solidFill>
              <a:srgbClr val="AAAAAA"/>
            </a:solidFill>
            <a:prstDash val="solid"/>
          </a:ln>
        </p:spPr>
        <p:txBody>
          <a:bodyPr/>
          <a:lstStyle/>
          <a:p>
            <a:endParaRPr lang="es-CO"/>
          </a:p>
        </p:txBody>
      </p:sp>
      <p:sp>
        <p:nvSpPr>
          <p:cNvPr id="14" name="Text 11"/>
          <p:cNvSpPr/>
          <p:nvPr/>
        </p:nvSpPr>
        <p:spPr>
          <a:xfrm>
            <a:off x="548640" y="6199632"/>
            <a:ext cx="6675120" cy="8595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Cut lengths aren't the same as center-to-center
</a:t>
            </a:r>
            <a:r>
              <a:rPr lang="en-US" sz="900" dirty="0">
                <a:solidFill>
                  <a:srgbClr val="1A1A1A"/>
                </a:solidFill>
                <a:latin typeface="Calibri" pitchFamily="34" charset="0"/>
                <a:ea typeface="Calibri" pitchFamily="34" charset="-122"/>
                <a:cs typeface="Calibri" pitchFamily="34" charset="-120"/>
              </a:rPr>
              <a:t>The lengths above are geometry. When I actually cut tube I subtract what slides into each printed joint: Seg-A 345, Seg-B 366, bogie 202 (Joint A eats 26, chassis fitting 30, Joint B 21).</a:t>
            </a:r>
            <a:endParaRPr lang="en-US" sz="1000" dirty="0"/>
          </a:p>
        </p:txBody>
      </p:sp>
      <p:sp>
        <p:nvSpPr>
          <p:cNvPr id="15" name="Shape 12"/>
          <p:cNvSpPr/>
          <p:nvPr/>
        </p:nvSpPr>
        <p:spPr>
          <a:xfrm>
            <a:off x="457200" y="7269480"/>
            <a:ext cx="6858000" cy="1965960"/>
          </a:xfrm>
          <a:prstGeom prst="rect">
            <a:avLst/>
          </a:prstGeom>
          <a:solidFill>
            <a:srgbClr val="F4F4F0"/>
          </a:solidFill>
          <a:ln w="12700">
            <a:solidFill>
              <a:srgbClr val="999999"/>
            </a:solidFill>
            <a:prstDash val="dash"/>
          </a:ln>
        </p:spPr>
        <p:txBody>
          <a:bodyPr/>
          <a:lstStyle/>
          <a:p>
            <a:endParaRPr lang="es-CO"/>
          </a:p>
        </p:txBody>
      </p:sp>
      <p:sp>
        <p:nvSpPr>
          <p:cNvPr id="17" name="Shape 14"/>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8" name="Text 15"/>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9" name="Text 16"/>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20" name="Text 17"/>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1" name="Text 18"/>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6</a:t>
            </a:r>
            <a:endParaRPr lang="en-US" sz="900" dirty="0"/>
          </a:p>
        </p:txBody>
      </p:sp>
      <p:pic>
        <p:nvPicPr>
          <p:cNvPr id="23" name="Imagen 22">
            <a:extLst>
              <a:ext uri="{FF2B5EF4-FFF2-40B4-BE49-F238E27FC236}">
                <a16:creationId xmlns:a16="http://schemas.microsoft.com/office/drawing/2014/main" id="{D8680344-AB4D-812B-610A-1FE22BA92EB2}"/>
              </a:ext>
            </a:extLst>
          </p:cNvPr>
          <p:cNvPicPr>
            <a:picLocks noChangeAspect="1"/>
          </p:cNvPicPr>
          <p:nvPr/>
        </p:nvPicPr>
        <p:blipFill>
          <a:blip r:embed="rId3"/>
          <a:stretch>
            <a:fillRect/>
          </a:stretch>
        </p:blipFill>
        <p:spPr>
          <a:xfrm>
            <a:off x="4846205" y="2572210"/>
            <a:ext cx="2468995" cy="191596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Loads &amp; how high it can climb</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Loads at 30 kg</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20000"/>
              </a:lnSpc>
              <a:buNone/>
            </a:pPr>
            <a:r>
              <a:rPr lang="en-US" sz="1250" dirty="0">
                <a:solidFill>
                  <a:srgbClr val="1A1A1A"/>
                </a:solidFill>
                <a:latin typeface="Courier New" pitchFamily="34" charset="0"/>
                <a:ea typeface="Courier New" pitchFamily="34" charset="-122"/>
                <a:cs typeface="Courier New" pitchFamily="34" charset="-120"/>
              </a:rPr>
              <a:t>W = m*g = 30 x 9.81 = 294.3 N
R3 (rear) = 0.40*W = 117.7 N   &lt;- the heavy one
R1 = R2 = 0.30*W = 88.3 N</a:t>
            </a:r>
            <a:endParaRPr lang="en-US" sz="1250" dirty="0"/>
          </a:p>
        </p:txBody>
      </p:sp>
      <p:sp>
        <p:nvSpPr>
          <p:cNvPr id="6" name="Text 4"/>
          <p:cNvSpPr/>
          <p:nvPr/>
        </p:nvSpPr>
        <p:spPr>
          <a:xfrm>
            <a:off x="457200" y="2514600"/>
            <a:ext cx="6858000" cy="64008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With a x2 dynamic factor for terrain shocks, the rocker sees ~235 N and the bogie ~177 N. Those are the numbers I'll feed the FEA (page 14).</a:t>
            </a:r>
            <a:endParaRPr lang="en-US" sz="1250" dirty="0"/>
          </a:p>
        </p:txBody>
      </p:sp>
      <p:sp>
        <p:nvSpPr>
          <p:cNvPr id="7" name="Text 5"/>
          <p:cNvSpPr/>
          <p:nvPr/>
        </p:nvSpPr>
        <p:spPr>
          <a:xfrm>
            <a:off x="457200" y="320040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high it climbs</a:t>
            </a:r>
            <a:endParaRPr lang="en-US" sz="1100" dirty="0"/>
          </a:p>
        </p:txBody>
      </p:sp>
      <p:sp>
        <p:nvSpPr>
          <p:cNvPr id="8" name="Text 6"/>
          <p:cNvSpPr/>
          <p:nvPr/>
        </p:nvSpPr>
        <p:spPr>
          <a:xfrm>
            <a:off x="548640" y="356616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My target is 300 mm = 1.5 x wheel D. The theoretical max for rocker-bogie is 2 x D = 400 mm. So I'm at 75% of the ceiling - a comfy 1.33 margin. I'll take it.</a:t>
            </a:r>
            <a:endParaRPr lang="en-US" sz="1250" dirty="0"/>
          </a:p>
        </p:txBody>
      </p:sp>
      <p:sp>
        <p:nvSpPr>
          <p:cNvPr id="9"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Ground clearance</a:t>
            </a:r>
            <a:endParaRPr lang="en-US" sz="1100" dirty="0"/>
          </a:p>
        </p:txBody>
      </p:sp>
      <p:sp>
        <p:nvSpPr>
          <p:cNvPr id="10"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Base clearance is h_bogie + R ~ 158 mm. But my wheel mounts drop the wheels 90 mm, which lifts the chassis, so real clearance ends up ~248 mm. More clearance for obstacles, slightly higher CG - fine for terrain without crazy side slopes.</a:t>
            </a:r>
            <a:endParaRPr lang="en-US" sz="1250" dirty="0"/>
          </a:p>
        </p:txBody>
      </p:sp>
      <p:sp>
        <p:nvSpPr>
          <p:cNvPr id="11" name="Shape 9"/>
          <p:cNvSpPr/>
          <p:nvPr/>
        </p:nvSpPr>
        <p:spPr>
          <a:xfrm>
            <a:off x="457200" y="5943600"/>
            <a:ext cx="6858000" cy="1097280"/>
          </a:xfrm>
          <a:prstGeom prst="rect">
            <a:avLst/>
          </a:prstGeom>
          <a:solidFill>
            <a:srgbClr val="FCEFA6"/>
          </a:solidFill>
          <a:ln w="6350">
            <a:solidFill>
              <a:srgbClr val="AAAAAA"/>
            </a:solidFill>
            <a:prstDash val="solid"/>
          </a:ln>
        </p:spPr>
        <p:txBody>
          <a:bodyPr/>
          <a:lstStyle/>
          <a:p>
            <a:endParaRPr lang="es-CO"/>
          </a:p>
        </p:txBody>
      </p:sp>
      <p:sp>
        <p:nvSpPr>
          <p:cNvPr id="12" name="Text 10"/>
          <p:cNvSpPr/>
          <p:nvPr/>
        </p:nvSpPr>
        <p:spPr>
          <a:xfrm>
            <a:off x="548640" y="6016752"/>
            <a:ext cx="6675120" cy="9509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A note to myself on the load split
</a:t>
            </a:r>
            <a:r>
              <a:rPr lang="en-US" sz="900" dirty="0">
                <a:solidFill>
                  <a:srgbClr val="1A1A1A"/>
                </a:solidFill>
                <a:latin typeface="Calibri" pitchFamily="34" charset="0"/>
                <a:ea typeface="Calibri" pitchFamily="34" charset="-122"/>
                <a:cs typeface="Calibri" pitchFamily="34" charset="-120"/>
              </a:rPr>
              <a:t>The 0.30/0.30/0.40 numbers sum to 1.0 over a 3-wheel train. For the FEA I'm treating them as a worst-case load dumped on one wheel, not an average - better to over-build than find out the hard way.</a:t>
            </a:r>
            <a:endParaRPr lang="en-US" sz="1000" dirty="0"/>
          </a:p>
        </p:txBody>
      </p:sp>
      <p:sp>
        <p:nvSpPr>
          <p:cNvPr id="15"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Going round tube + printed joints</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switch</a:t>
            </a:r>
            <a:endParaRPr lang="en-US" sz="1100" dirty="0"/>
          </a:p>
        </p:txBody>
      </p:sp>
      <p:sp>
        <p:nvSpPr>
          <p:cNvPr id="5" name="Text 3"/>
          <p:cNvSpPr/>
          <p:nvPr/>
        </p:nvSpPr>
        <p:spPr>
          <a:xfrm>
            <a:off x="457200" y="1463040"/>
            <a:ext cx="6858000" cy="6400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 moved the arms from square tube to round aluminum tube, and made every intersection a 3D-printed PETG joint instead of bending tube or bolting plates. Round tube is easier to source and easier to bond into the joints.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4114800" cy="1316736"/>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Profile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Cut length</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345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366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arm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D20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202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4754880" y="2286000"/>
            <a:ext cx="2560320" cy="1325880"/>
          </a:xfrm>
          <a:prstGeom prst="rect">
            <a:avLst/>
          </a:prstGeom>
          <a:solidFill>
            <a:srgbClr val="F4F4F0"/>
          </a:solidFill>
          <a:ln w="12700">
            <a:solidFill>
              <a:srgbClr val="999999"/>
            </a:solidFill>
            <a:prstDash val="dash"/>
          </a:ln>
        </p:spPr>
        <p:txBody>
          <a:bodyPr/>
          <a:lstStyle/>
          <a:p>
            <a:endParaRPr lang="es-CO"/>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57200" y="3749040"/>
          <a:ext cx="4114800" cy="987552"/>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Sockets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Angle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Wall</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 (rocker)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 (bogie)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0" name="Shape 6"/>
          <p:cNvSpPr/>
          <p:nvPr/>
        </p:nvSpPr>
        <p:spPr>
          <a:xfrm>
            <a:off x="457200" y="4937760"/>
            <a:ext cx="3291840" cy="1737360"/>
          </a:xfrm>
          <a:prstGeom prst="rect">
            <a:avLst/>
          </a:prstGeom>
          <a:solidFill>
            <a:srgbClr val="D9E6D4"/>
          </a:solidFill>
          <a:ln w="6350">
            <a:solidFill>
              <a:srgbClr val="AAAAAA"/>
            </a:solidFill>
            <a:prstDash val="solid"/>
          </a:ln>
        </p:spPr>
        <p:txBody>
          <a:bodyPr/>
          <a:lstStyle/>
          <a:p>
            <a:endParaRPr lang="es-CO"/>
          </a:p>
        </p:txBody>
      </p:sp>
      <p:sp>
        <p:nvSpPr>
          <p:cNvPr id="11" name="Text 7"/>
          <p:cNvSpPr/>
          <p:nvPr/>
        </p:nvSpPr>
        <p:spPr>
          <a:xfrm>
            <a:off x="54864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Why I like this
</a:t>
            </a:r>
            <a:r>
              <a:rPr lang="en-US" sz="900" dirty="0">
                <a:solidFill>
                  <a:srgbClr val="1A1A1A"/>
                </a:solidFill>
                <a:latin typeface="Calibri" pitchFamily="34" charset="0"/>
                <a:ea typeface="Calibri" pitchFamily="34" charset="-122"/>
                <a:cs typeface="Calibri" pitchFamily="34" charset="-120"/>
              </a:rPr>
              <a:t>The joints hold the angles, so I cut every tube dead straight at 90deg - no mitering, no bending jigs. I print them PETG, 5 perimeters, 60% infill, socket-up, no supports. Tubes press-fit and pin with 2x M5 each.</a:t>
            </a:r>
            <a:endParaRPr lang="en-US" sz="1000" dirty="0"/>
          </a:p>
        </p:txBody>
      </p:sp>
      <p:sp>
        <p:nvSpPr>
          <p:cNvPr id="12" name="Shape 8"/>
          <p:cNvSpPr/>
          <p:nvPr/>
        </p:nvSpPr>
        <p:spPr>
          <a:xfrm>
            <a:off x="4023360" y="4937760"/>
            <a:ext cx="3291840" cy="1737360"/>
          </a:xfrm>
          <a:prstGeom prst="rect">
            <a:avLst/>
          </a:prstGeom>
          <a:solidFill>
            <a:srgbClr val="DCE6F2"/>
          </a:solidFill>
          <a:ln w="6350">
            <a:solidFill>
              <a:srgbClr val="AAAAAA"/>
            </a:solidFill>
            <a:prstDash val="solid"/>
          </a:ln>
        </p:spPr>
        <p:txBody>
          <a:bodyPr/>
          <a:lstStyle/>
          <a:p>
            <a:endParaRPr lang="es-CO"/>
          </a:p>
        </p:txBody>
      </p:sp>
      <p:sp>
        <p:nvSpPr>
          <p:cNvPr id="13" name="Text 9"/>
          <p:cNvSpPr/>
          <p:nvPr/>
        </p:nvSpPr>
        <p:spPr>
          <a:xfrm>
            <a:off x="411480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Bushing, not bearing
</a:t>
            </a:r>
            <a:r>
              <a:rPr lang="en-US" sz="900" dirty="0">
                <a:solidFill>
                  <a:srgbClr val="1A1A1A"/>
                </a:solidFill>
                <a:latin typeface="Calibri" pitchFamily="34" charset="0"/>
                <a:ea typeface="Calibri" pitchFamily="34" charset="-122"/>
                <a:cs typeface="Calibri" pitchFamily="34" charset="-120"/>
              </a:rPr>
              <a:t>The D12 axle rides through the boss on a printed plain bushing (greased), not a ball bearing - cheaper and fine for a passive axle. I keep the wall at 5 mm; any thinner and the M5 bolts rip out of the PETG.</a:t>
            </a:r>
            <a:endParaRPr lang="en-US" sz="1000" dirty="0"/>
          </a:p>
        </p:txBody>
      </p:sp>
      <p:sp>
        <p:nvSpPr>
          <p:cNvPr id="14" name="Shape 10"/>
          <p:cNvSpPr/>
          <p:nvPr/>
        </p:nvSpPr>
        <p:spPr>
          <a:xfrm>
            <a:off x="457200" y="6858000"/>
            <a:ext cx="6858000" cy="2377440"/>
          </a:xfrm>
          <a:prstGeom prst="rect">
            <a:avLst/>
          </a:prstGeom>
          <a:solidFill>
            <a:srgbClr val="F4F4F0"/>
          </a:solidFill>
          <a:ln w="12700">
            <a:solidFill>
              <a:srgbClr val="999999"/>
            </a:solidFill>
            <a:prstDash val="dash"/>
          </a:ln>
        </p:spPr>
        <p:txBody>
          <a:bodyPr/>
          <a:lstStyle/>
          <a:p>
            <a:endParaRPr lang="es-CO"/>
          </a:p>
        </p:txBody>
      </p:sp>
      <p:sp>
        <p:nvSpPr>
          <p:cNvPr id="16"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differential mess</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I went wrong</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My first "differential" was just a rigid bar. Reading the JPL docs again, it hit me - that's not actually a differential. A rigid bar doesn't level the chassis; each side just does its own thing. A real one connects both rockers so when one climbs, the other drops and the body stays level. I'd been missing the whole point of the mechanism.</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NASA does it</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 central hub that rocks, two turnbuckles (threaded rods with ball-joint ends), and links to each rocker. Chain: rocker -&gt; turnbuckle -&gt; rocking hub -&gt; turnbuckle -&gt; other rocker. The Hackaday writeup literally calls this the crucial link that most DIY rovers skip because it's fiddly - and they lose capability for skipping it.</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thing I finally understood</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There are two separate things: </a:t>
            </a:r>
            <a:r>
              <a:rPr lang="en-US" sz="1250" dirty="0">
                <a:solidFill>
                  <a:srgbClr val="1A1A1A"/>
                </a:solidFill>
                <a:latin typeface="Calibri" pitchFamily="34" charset="0"/>
                <a:ea typeface="Calibri" pitchFamily="34" charset="-122"/>
                <a:cs typeface="Calibri" pitchFamily="34" charset="-120"/>
              </a:rPr>
              <a:t>the transverse D12 axle (just the pivot the rockers turn on) and the balancin + bieletas on top (the mechanism that actually levels the chassis). My earlier design only had the axle. I'd left out the leveling entirely.</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Decision - build the real one
</a:t>
            </a:r>
            <a:r>
              <a:rPr lang="en-US" sz="900" dirty="0">
                <a:solidFill>
                  <a:srgbClr val="1A1A1A"/>
                </a:solidFill>
                <a:latin typeface="Calibri" pitchFamily="34" charset="0"/>
                <a:ea typeface="Calibri" pitchFamily="34" charset="-122"/>
                <a:cs typeface="Calibri" pitchFamily="34" charset="-120"/>
              </a:rPr>
              <a:t>For a competition rover where rough terrain is the whole point, real leveling is worth the extra parts. I went with a printed version of NASA's mechanism: a balancin that rocks, two bieletas down to clamps on the rockers. Got it moving right in the Fusion Motion Study.</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Nailing the differential geometry</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6858000" cy="3566160"/>
        </p:xfrm>
        <a:graphic>
          <a:graphicData uri="http://schemas.openxmlformats.org/drawingml/2006/table">
            <a:tbl>
              <a:tblPr/>
              <a:tblGrid>
                <a:gridCol w="35661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 settled 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360 mm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arm (center -&gt; bielle hole)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each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pivot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D8 (M8), longitudinal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on rocker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one per rocker (2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offset from rocker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 balancin arm)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position from tube start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170 mm along the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~253 mm center-to-center</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ball joints on BOTH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Text 2"/>
          <p:cNvSpPr/>
          <p:nvPr/>
        </p:nvSpPr>
        <p:spPr>
          <a:xfrm>
            <a:off x="457200" y="507492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1:1 rule I learned</a:t>
            </a:r>
            <a:endParaRPr lang="en-US" sz="1100" dirty="0"/>
          </a:p>
        </p:txBody>
      </p:sp>
      <p:sp>
        <p:nvSpPr>
          <p:cNvPr id="6" name="Text 3"/>
          <p:cNvSpPr/>
          <p:nvPr/>
        </p:nvSpPr>
        <p:spPr>
          <a:xfrm>
            <a:off x="457200" y="5440680"/>
            <a:ext cx="6858000" cy="7772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Balancin arm (180) has to equal the clamp offset (180). If they're not equal, one side moves more than the other and the leveling goes lopsided. The bieleta length doesn't touch the ratio - it just spans the gap. Took me a couple wrong guesses (I had it at 350 once) to get this.</a:t>
            </a:r>
            <a:endParaRPr lang="en-US" sz="1200" dirty="0"/>
          </a:p>
        </p:txBody>
      </p:sp>
      <p:sp>
        <p:nvSpPr>
          <p:cNvPr id="7" name="Shape 4"/>
          <p:cNvSpPr/>
          <p:nvPr/>
        </p:nvSpPr>
        <p:spPr>
          <a:xfrm>
            <a:off x="457200" y="6309360"/>
            <a:ext cx="3291840" cy="1371600"/>
          </a:xfrm>
          <a:prstGeom prst="rect">
            <a:avLst/>
          </a:prstGeom>
          <a:solidFill>
            <a:srgbClr val="DCE6F2"/>
          </a:solidFill>
          <a:ln w="6350">
            <a:solidFill>
              <a:srgbClr val="AAAAAA"/>
            </a:solidFill>
            <a:prstDash val="solid"/>
          </a:ln>
        </p:spPr>
        <p:txBody>
          <a:bodyPr/>
          <a:lstStyle/>
          <a:p>
            <a:endParaRPr lang="es-CO"/>
          </a:p>
        </p:txBody>
      </p:sp>
      <p:sp>
        <p:nvSpPr>
          <p:cNvPr id="8" name="Text 5"/>
          <p:cNvSpPr/>
          <p:nvPr/>
        </p:nvSpPr>
        <p:spPr>
          <a:xfrm>
            <a:off x="54864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Ball joints on both ends
</a:t>
            </a:r>
            <a:r>
              <a:rPr lang="en-US" sz="900" dirty="0">
                <a:solidFill>
                  <a:srgbClr val="1A1A1A"/>
                </a:solidFill>
                <a:latin typeface="Calibri" pitchFamily="34" charset="0"/>
                <a:ea typeface="Calibri" pitchFamily="34" charset="-122"/>
                <a:cs typeface="Calibri" pitchFamily="34" charset="-120"/>
              </a:rPr>
              <a:t>The balancin rocks in one plane, the rocker turns in another. Rigid ends bind it. Rod-end (Heim) joints on both ends of each bieleta soak up the angle - 4 rod-ends total.</a:t>
            </a:r>
            <a:endParaRPr lang="en-US" sz="1000" dirty="0"/>
          </a:p>
        </p:txBody>
      </p:sp>
      <p:sp>
        <p:nvSpPr>
          <p:cNvPr id="9" name="Shape 6"/>
          <p:cNvSpPr/>
          <p:nvPr/>
        </p:nvSpPr>
        <p:spPr>
          <a:xfrm>
            <a:off x="4023360" y="6309360"/>
            <a:ext cx="3291840" cy="1371600"/>
          </a:xfrm>
          <a:prstGeom prst="rect">
            <a:avLst/>
          </a:prstGeom>
          <a:solidFill>
            <a:srgbClr val="FCEFA6"/>
          </a:solidFill>
          <a:ln w="6350">
            <a:solidFill>
              <a:srgbClr val="AAAAAA"/>
            </a:solidFill>
            <a:prstDash val="solid"/>
          </a:ln>
        </p:spPr>
        <p:txBody>
          <a:bodyPr/>
          <a:lstStyle/>
          <a:p>
            <a:endParaRPr lang="es-CO"/>
          </a:p>
        </p:txBody>
      </p:sp>
      <p:sp>
        <p:nvSpPr>
          <p:cNvPr id="10" name="Text 7"/>
          <p:cNvSpPr/>
          <p:nvPr/>
        </p:nvSpPr>
        <p:spPr>
          <a:xfrm>
            <a:off x="411480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Mounted on top
</a:t>
            </a:r>
            <a:r>
              <a:rPr lang="en-US" sz="900" dirty="0">
                <a:solidFill>
                  <a:srgbClr val="1A1A1A"/>
                </a:solidFill>
                <a:latin typeface="Calibri" pitchFamily="34" charset="0"/>
                <a:ea typeface="Calibri" pitchFamily="34" charset="-122"/>
                <a:cs typeface="Calibri" pitchFamily="34" charset="-120"/>
              </a:rPr>
              <a:t>The whole differential sits on top of the lid, outside the sealed body - only the D12 axle enters the box. That fixed the bieletas clipping the chassis edge; they now run outside the box.</a:t>
            </a:r>
            <a:endParaRPr lang="en-US" sz="1000" dirty="0"/>
          </a:p>
        </p:txBody>
      </p:sp>
      <p:sp>
        <p:nvSpPr>
          <p:cNvPr id="12" name="Text 9"/>
          <p:cNvSpPr/>
          <p:nvPr/>
        </p:nvSpPr>
        <p:spPr>
          <a:xfrm>
            <a:off x="548640" y="7818120"/>
            <a:ext cx="6675120" cy="1417320"/>
          </a:xfrm>
          <a:prstGeom prst="rect">
            <a:avLst/>
          </a:prstGeom>
          <a:noFill/>
          <a:ln/>
        </p:spPr>
        <p:txBody>
          <a:bodyPr wrap="square" rtlCol="0" anchor="ctr"/>
          <a:lstStyle/>
          <a:p>
            <a:pPr marL="0" indent="0" algn="ctr">
              <a:buNone/>
            </a:pPr>
            <a:endParaRPr lang="en-US" sz="1100" dirty="0"/>
          </a:p>
        </p:txBody>
      </p:sp>
      <p:sp>
        <p:nvSpPr>
          <p:cNvPr id="13"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4"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5"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6"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7"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10</a:t>
            </a:r>
            <a:endParaRPr lang="en-US" sz="900" dirty="0"/>
          </a:p>
        </p:txBody>
      </p:sp>
      <p:pic>
        <p:nvPicPr>
          <p:cNvPr id="19" name="Imagen 18">
            <a:extLst>
              <a:ext uri="{FF2B5EF4-FFF2-40B4-BE49-F238E27FC236}">
                <a16:creationId xmlns:a16="http://schemas.microsoft.com/office/drawing/2014/main" id="{1F536A46-ACC4-913F-197B-75A82C7CFF08}"/>
              </a:ext>
            </a:extLst>
          </p:cNvPr>
          <p:cNvPicPr>
            <a:picLocks noChangeAspect="1"/>
          </p:cNvPicPr>
          <p:nvPr/>
        </p:nvPicPr>
        <p:blipFill>
          <a:blip r:embed="rId3"/>
          <a:stretch>
            <a:fillRect/>
          </a:stretch>
        </p:blipFill>
        <p:spPr>
          <a:xfrm>
            <a:off x="1743075" y="7754112"/>
            <a:ext cx="4392930" cy="154022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Steering &amp; getting the wheels level</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All the same mount</a:t>
            </a:r>
            <a:endParaRPr lang="en-US" sz="1100" dirty="0"/>
          </a:p>
        </p:txBody>
      </p:sp>
      <p:sp>
        <p:nvSpPr>
          <p:cNvPr id="5" name="Text 3"/>
          <p:cNvSpPr/>
          <p:nvPr/>
        </p:nvSpPr>
        <p:spPr>
          <a:xfrm>
            <a:off x="457200" y="1463040"/>
            <a:ext cx="6858000" cy="8229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ended up using the same C-mount body for all 6 wheels. The only difference is the servo: the 4 corner wheels get an MG996R on top for steering (vertical axis), and the 2 middle wheels use the same mount with no servo - fixed.</a:t>
            </a:r>
            <a:endParaRPr lang="en-US" sz="1250" dirty="0"/>
          </a:p>
        </p:txBody>
      </p:sp>
      <p:sp>
        <p:nvSpPr>
          <p:cNvPr id="6" name="Text 4"/>
          <p:cNvSpPr/>
          <p:nvPr/>
        </p:nvSpPr>
        <p:spPr>
          <a:xfrm>
            <a:off x="457200" y="23774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Socket angles to keep wheels vertical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4572000" cy="1316736"/>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Mount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Tilt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Rotate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(fixed)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-10 -&gt; 80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0"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Getting them level</a:t>
            </a:r>
            <a:endParaRPr lang="en-US" sz="1100" dirty="0"/>
          </a:p>
        </p:txBody>
      </p:sp>
      <p:sp>
        <p:nvSpPr>
          <p:cNvPr id="11"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All three mounts on a side share the same 90 mm drop (socket -&gt; wheel center). Same H on all three = wheels come out level on their own. 90 mm gives room for the servo above the corner wheels, and the middle mount just copies it even though it has no servo.</a:t>
            </a:r>
            <a:endParaRPr lang="en-US" sz="1250" dirty="0"/>
          </a:p>
        </p:txBody>
      </p:sp>
      <p:sp>
        <p:nvSpPr>
          <p:cNvPr id="7" name="Shape 9"/>
          <p:cNvSpPr/>
          <p:nvPr/>
        </p:nvSpPr>
        <p:spPr>
          <a:xfrm>
            <a:off x="457200" y="5943600"/>
            <a:ext cx="6858000" cy="1188720"/>
          </a:xfrm>
          <a:prstGeom prst="rect">
            <a:avLst/>
          </a:prstGeom>
          <a:solidFill>
            <a:srgbClr val="D9E6D4"/>
          </a:solidFill>
          <a:ln w="6350">
            <a:solidFill>
              <a:srgbClr val="AAAAAA"/>
            </a:solidFill>
            <a:prstDash val="solid"/>
          </a:ln>
        </p:spPr>
        <p:txBody>
          <a:bodyPr/>
          <a:lstStyle/>
          <a:p>
            <a:endParaRPr lang="es-CO"/>
          </a:p>
        </p:txBody>
      </p:sp>
      <p:sp>
        <p:nvSpPr>
          <p:cNvPr id="13" name="Text 10"/>
          <p:cNvSpPr/>
          <p:nvPr/>
        </p:nvSpPr>
        <p:spPr>
          <a:xfrm>
            <a:off x="548640" y="60167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Shop trick
</a:t>
            </a:r>
            <a:r>
              <a:rPr lang="en-US" sz="900" dirty="0">
                <a:solidFill>
                  <a:srgbClr val="1A1A1A"/>
                </a:solidFill>
                <a:latin typeface="Calibri" pitchFamily="34" charset="0"/>
                <a:ea typeface="Calibri" pitchFamily="34" charset="-122"/>
                <a:cs typeface="Calibri" pitchFamily="34" charset="-120"/>
              </a:rPr>
              <a:t>Instead of measuring angles off the tube, I just orient each socket so the mount hangs plumb (checked with a level) when the rover sits flat. Then the servo axis is vertical automatically. I'll design the mounts with slotted holes so final leveling is a slide-and-tighten on a flat surface.</a:t>
            </a:r>
            <a:endParaRPr lang="en-US" sz="1000" dirty="0"/>
          </a:p>
        </p:txBody>
      </p:sp>
      <p:sp>
        <p:nvSpPr>
          <p:cNvPr id="16"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7"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11</a:t>
            </a:r>
            <a:endParaRPr lang="en-US" sz="900" dirty="0"/>
          </a:p>
        </p:txBody>
      </p:sp>
      <p:pic>
        <p:nvPicPr>
          <p:cNvPr id="22" name="Imagen 21">
            <a:extLst>
              <a:ext uri="{FF2B5EF4-FFF2-40B4-BE49-F238E27FC236}">
                <a16:creationId xmlns:a16="http://schemas.microsoft.com/office/drawing/2014/main" id="{B63E306E-06AF-882B-3B33-9901092457C8}"/>
              </a:ext>
            </a:extLst>
          </p:cNvPr>
          <p:cNvPicPr>
            <a:picLocks noChangeAspect="1"/>
          </p:cNvPicPr>
          <p:nvPr/>
        </p:nvPicPr>
        <p:blipFill>
          <a:blip r:embed="rId3"/>
          <a:stretch>
            <a:fillRect/>
          </a:stretch>
        </p:blipFill>
        <p:spPr>
          <a:xfrm>
            <a:off x="5358222" y="2377440"/>
            <a:ext cx="1499778" cy="20728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Shrinking the chassis to 900x600</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wanted</a:t>
            </a:r>
            <a:endParaRPr lang="en-US" sz="1100" dirty="0"/>
          </a:p>
        </p:txBody>
      </p:sp>
      <p:sp>
        <p:nvSpPr>
          <p:cNvPr id="5" name="Text 3"/>
          <p:cNvSpPr/>
          <p:nvPr/>
        </p:nvSpPr>
        <p:spPr>
          <a:xfrm>
            <a:off x="457200" y="14630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wanted the body to tuck inside the wheels, like Curiosity, instead of the wheels sitting inside the body. The realization: this needs wheelbase &gt; chassis length. Moving the pivot alone can't do it - the pivot just slides the body forward/back, it can't change which one is bigger.</a:t>
            </a:r>
            <a:endParaRPr lang="en-US" sz="1250" dirty="0"/>
          </a:p>
        </p:txBody>
      </p:sp>
      <p:sp>
        <p:nvSpPr>
          <p:cNvPr id="6" name="Text 4"/>
          <p:cNvSpPr/>
          <p:nvPr/>
        </p:nvSpPr>
        <p:spPr>
          <a:xfrm>
            <a:off x="457200" y="24688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Two ways to do it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834640"/>
          <a:ext cx="6858000" cy="2029968"/>
        </p:xfrm>
        <a:graphic>
          <a:graphicData uri="http://schemas.openxmlformats.org/drawingml/2006/table">
            <a:tbl>
              <a:tblPr/>
              <a:tblGrid>
                <a:gridCol w="17373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38328">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Grow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Shrink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I change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the suspension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only the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1400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 (same)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1200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900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Rover size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bigger ~1500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compact ~1100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Recalc arms?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5"/>
          <p:cNvSpPr/>
          <p:nvPr/>
        </p:nvSpPr>
        <p:spPr>
          <a:xfrm>
            <a:off x="457200" y="521208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picked</a:t>
            </a:r>
            <a:endParaRPr lang="en-US" sz="1100" dirty="0"/>
          </a:p>
        </p:txBody>
      </p:sp>
      <p:sp>
        <p:nvSpPr>
          <p:cNvPr id="9" name="Text 6"/>
          <p:cNvSpPr/>
          <p:nvPr/>
        </p:nvSpPr>
        <p:spPr>
          <a:xfrm>
            <a:off x="457200" y="55778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Since 1200 mm turned out not to be a hard requirement, I shrank the chassis to 900 mm - it's the simpler move and doesn't touch the suspension. Now wheelbase (1000) &gt; chassis (900), so the wheels wrap the body by 50 mm each end. The differential pivot lands ~108 mm behind chassis center, which loads the rear a bit (helps climbing).</a:t>
            </a:r>
            <a:endParaRPr lang="en-US" sz="1250" dirty="0"/>
          </a:p>
        </p:txBody>
      </p:sp>
      <p:sp>
        <p:nvSpPr>
          <p:cNvPr id="10" name="Shape 7"/>
          <p:cNvSpPr/>
          <p:nvPr/>
        </p:nvSpPr>
        <p:spPr>
          <a:xfrm>
            <a:off x="457200" y="6583680"/>
            <a:ext cx="6858000" cy="777240"/>
          </a:xfrm>
          <a:prstGeom prst="rect">
            <a:avLst/>
          </a:prstGeom>
          <a:solidFill>
            <a:srgbClr val="DCE6F2"/>
          </a:solidFill>
          <a:ln w="6350">
            <a:solidFill>
              <a:srgbClr val="AAAAAA"/>
            </a:solidFill>
            <a:prstDash val="solid"/>
          </a:ln>
        </p:spPr>
        <p:txBody>
          <a:bodyPr/>
          <a:lstStyle/>
          <a:p>
            <a:endParaRPr lang="es-CO"/>
          </a:p>
        </p:txBody>
      </p:sp>
      <p:sp>
        <p:nvSpPr>
          <p:cNvPr id="11" name="Text 8"/>
          <p:cNvSpPr/>
          <p:nvPr/>
        </p:nvSpPr>
        <p:spPr>
          <a:xfrm>
            <a:off x="548640" y="6656832"/>
            <a:ext cx="6675120" cy="6309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What survived the change
</a:t>
            </a:r>
            <a:r>
              <a:rPr lang="en-US" sz="900" dirty="0">
                <a:solidFill>
                  <a:srgbClr val="1A1A1A"/>
                </a:solidFill>
                <a:latin typeface="Calibri" pitchFamily="34" charset="0"/>
                <a:ea typeface="Calibri" pitchFamily="34" charset="-122"/>
                <a:cs typeface="Calibri" pitchFamily="34" charset="-120"/>
              </a:rPr>
              <a:t>All the arm lengths, angles, joints, loads, and the axle span are tied to the wheelbase (unchanged), so they all held. Only the old wheelbase-from-chassis formula broke - now they're independent, which is the whole point.</a:t>
            </a:r>
            <a:endParaRPr lang="en-US" sz="1000" dirty="0"/>
          </a:p>
        </p:txBody>
      </p:sp>
      <p:sp>
        <p:nvSpPr>
          <p:cNvPr id="14" name="Shape 11"/>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2"/>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3"/>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4"/>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5"/>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Picking motors &amp; battery</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speed problem</a:t>
            </a:r>
            <a:endParaRPr lang="en-US" sz="1100" dirty="0"/>
          </a:p>
        </p:txBody>
      </p:sp>
      <p:sp>
        <p:nvSpPr>
          <p:cNvPr id="5" name="Text 3"/>
          <p:cNvSpPr/>
          <p:nvPr/>
        </p:nvSpPr>
        <p:spPr>
          <a:xfrm>
            <a:off x="457200" y="1417320"/>
            <a:ext cx="6858000" cy="5486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 D200 wheel at 100 rpm is ~1050 mm/s - 7x too fast vs my 150 target. So I need low-rpm, high-torque motors and I regulate down with PWM.</a:t>
            </a:r>
            <a:endParaRPr lang="en-US" sz="1200" dirty="0"/>
          </a:p>
        </p:txBody>
      </p:sp>
      <p:sp>
        <p:nvSpPr>
          <p:cNvPr id="6" name="Text 4"/>
          <p:cNvSpPr/>
          <p:nvPr/>
        </p:nvSpPr>
        <p:spPr>
          <a:xfrm>
            <a:off x="457200" y="205740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Torque check at 30 kg</a:t>
            </a:r>
            <a:endParaRPr lang="en-US" sz="1100" dirty="0"/>
          </a:p>
        </p:txBody>
      </p:sp>
      <p:sp>
        <p:nvSpPr>
          <p:cNvPr id="7" name="Text 5"/>
          <p:cNvSpPr/>
          <p:nvPr/>
        </p:nvSpPr>
        <p:spPr>
          <a:xfrm>
            <a:off x="457200" y="23774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~18-25 kg*cm/wheel for a 30deg slope (6 wheels), up to ~50 worst case (3 wheels gripping). I picked the JGB37 50RPM that does 40 kg*cm - good for normal terrain, tight for big obstacles.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6858000" cy="2194560"/>
        </p:xfrm>
        <a:graphic>
          <a:graphicData uri="http://schemas.openxmlformats.org/drawingml/2006/table">
            <a:tbl>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Choice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Qty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~COP</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Motor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JGB37 12V 50RPM (40 kg*cm)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$87,600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BTS7960 43A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 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PCA9685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I+D/Big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MG996R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$26,000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Bigtronica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Battery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LiPo 8-10 Ah 12V</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Text 6"/>
          <p:cNvSpPr/>
          <p:nvPr/>
        </p:nvSpPr>
        <p:spPr>
          <a:xfrm>
            <a:off x="457200" y="5715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Battery</a:t>
            </a:r>
            <a:endParaRPr lang="en-US" sz="1100" dirty="0"/>
          </a:p>
        </p:txBody>
      </p:sp>
      <p:sp>
        <p:nvSpPr>
          <p:cNvPr id="10" name="Text 7"/>
          <p:cNvSpPr/>
          <p:nvPr/>
        </p:nvSpPr>
        <p:spPr>
          <a:xfrm>
            <a:off x="457200" y="60350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At 30 kg I pull ~12.5 A nominal, ~26 A peak when climbing. A LiPo handles those peaks easily and gives ~40 min at 8-10 Ah. I could do 2x SLA 12V 12Ah but they're heavy.</a:t>
            </a:r>
            <a:endParaRPr lang="en-US" sz="1200" dirty="0"/>
          </a:p>
        </p:txBody>
      </p:sp>
      <p:sp>
        <p:nvSpPr>
          <p:cNvPr id="11" name="Shape 8"/>
          <p:cNvSpPr/>
          <p:nvPr/>
        </p:nvSpPr>
        <p:spPr>
          <a:xfrm>
            <a:off x="457200" y="6766560"/>
            <a:ext cx="6858000" cy="868680"/>
          </a:xfrm>
          <a:prstGeom prst="rect">
            <a:avLst/>
          </a:prstGeom>
          <a:solidFill>
            <a:srgbClr val="FCEFA6"/>
          </a:solidFill>
          <a:ln w="6350">
            <a:solidFill>
              <a:srgbClr val="AAAAAA"/>
            </a:solidFill>
            <a:prstDash val="solid"/>
          </a:ln>
        </p:spPr>
        <p:txBody>
          <a:bodyPr/>
          <a:lstStyle/>
          <a:p>
            <a:endParaRPr lang="es-CO"/>
          </a:p>
        </p:txBody>
      </p:sp>
      <p:sp>
        <p:nvSpPr>
          <p:cNvPr id="12" name="Text 9"/>
          <p:cNvSpPr/>
          <p:nvPr/>
        </p:nvSpPr>
        <p:spPr>
          <a:xfrm>
            <a:off x="548640" y="6839712"/>
            <a:ext cx="6675120" cy="7223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still need to check - encoder
</a:t>
            </a:r>
            <a:r>
              <a:rPr lang="en-US" sz="900" dirty="0">
                <a:solidFill>
                  <a:srgbClr val="1A1A1A"/>
                </a:solidFill>
                <a:latin typeface="Calibri" pitchFamily="34" charset="0"/>
                <a:ea typeface="Calibri" pitchFamily="34" charset="-122"/>
                <a:cs typeface="Calibri" pitchFamily="34" charset="-120"/>
              </a:rPr>
              <a:t>The 40 kg*cm listing at I+D doesn't clearly say it has an encoder. For SLAM I need the encoder version (JGB37-520 Hall, 6 wires). I have to confirm at the store or source the encoder variant separately before I buy.</a:t>
            </a:r>
            <a:endParaRPr lang="en-US" sz="1000" dirty="0"/>
          </a:p>
        </p:txBody>
      </p:sp>
      <p:sp>
        <p:nvSpPr>
          <p:cNvPr id="13" name="Shape 10"/>
          <p:cNvSpPr/>
          <p:nvPr/>
        </p:nvSpPr>
        <p:spPr>
          <a:xfrm>
            <a:off x="457200" y="7772400"/>
            <a:ext cx="6858000" cy="1463040"/>
          </a:xfrm>
          <a:prstGeom prst="rect">
            <a:avLst/>
          </a:prstGeom>
          <a:solidFill>
            <a:srgbClr val="F4F4F0"/>
          </a:solidFill>
          <a:ln w="12700">
            <a:solidFill>
              <a:srgbClr val="999999"/>
            </a:solidFill>
            <a:prstDash val="dash"/>
          </a:ln>
        </p:spPr>
        <p:txBody>
          <a:bodyPr/>
          <a:lstStyle/>
          <a:p>
            <a:endParaRPr lang="es-CO"/>
          </a:p>
        </p:txBody>
      </p:sp>
      <p:sp>
        <p:nvSpPr>
          <p:cNvPr id="15"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My FEA plan (targets)</a:t>
            </a:r>
            <a:endParaRPr lang="en-US" sz="1800" dirty="0"/>
          </a:p>
        </p:txBody>
      </p:sp>
      <p:sp>
        <p:nvSpPr>
          <p:cNvPr id="4" name="Text 2"/>
          <p:cNvSpPr/>
          <p:nvPr/>
        </p:nvSpPr>
        <p:spPr>
          <a:xfrm>
            <a:off x="457200" y="1097280"/>
            <a:ext cx="6858000" cy="50292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I'll run Static Stress in Fusion on the parts that carry the most. These are the numbers the design SHOULD hit - I haven't solved it yet, so I'll swap in the real values once I run it.</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685800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Load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Target SF</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Peak stress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Deflection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Rocker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60-90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&lt;2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Bogie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40-60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&lt;1.5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A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15-25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B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10-20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Axle D12 (steel)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118 N/side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80-140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&lt;3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457200" y="44348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I'll read it</a:t>
            </a:r>
            <a:endParaRPr lang="en-US" sz="1100" dirty="0"/>
          </a:p>
        </p:txBody>
      </p:sp>
      <p:sp>
        <p:nvSpPr>
          <p:cNvPr id="7" name="Text 4"/>
          <p:cNvSpPr/>
          <p:nvPr/>
        </p:nvSpPr>
        <p:spPr>
          <a:xfrm>
            <a:off x="457200" y="480060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Aluminum arms </a:t>
            </a:r>
            <a:r>
              <a:rPr lang="en-US" sz="1250" dirty="0">
                <a:solidFill>
                  <a:srgbClr val="1A1A1A"/>
                </a:solidFill>
                <a:latin typeface="Calibri" pitchFamily="34" charset="0"/>
                <a:ea typeface="Calibri" pitchFamily="34" charset="-122"/>
                <a:cs typeface="Calibri" pitchFamily="34" charset="-120"/>
              </a:rPr>
              <a:t>should be comfy (SF 3-5). If the rocker drops under 2.5 I'll step up to D28 tube.
</a:t>
            </a:r>
            <a:r>
              <a:rPr lang="en-US" sz="1250" b="1" dirty="0">
                <a:solidFill>
                  <a:srgbClr val="1A1A1A"/>
                </a:solidFill>
                <a:latin typeface="Calibri" pitchFamily="34" charset="0"/>
                <a:ea typeface="Calibri" pitchFamily="34" charset="-122"/>
                <a:cs typeface="Calibri" pitchFamily="34" charset="-120"/>
              </a:rPr>
              <a:t>PETG joints </a:t>
            </a:r>
            <a:r>
              <a:rPr lang="en-US" sz="1250" dirty="0">
                <a:solidFill>
                  <a:srgbClr val="1A1A1A"/>
                </a:solidFill>
                <a:latin typeface="Calibri" pitchFamily="34" charset="0"/>
                <a:ea typeface="Calibri" pitchFamily="34" charset="-122"/>
                <a:cs typeface="Calibri" pitchFamily="34" charset="-120"/>
              </a:rPr>
              <a:t>are the tight ones - I'll mesh finely at the socket roots.
</a:t>
            </a:r>
            <a:r>
              <a:rPr lang="en-US" sz="1250" b="1" dirty="0">
                <a:solidFill>
                  <a:srgbClr val="1A1A1A"/>
                </a:solidFill>
                <a:latin typeface="Calibri" pitchFamily="34" charset="0"/>
                <a:ea typeface="Calibri" pitchFamily="34" charset="-122"/>
                <a:cs typeface="Calibri" pitchFamily="34" charset="-120"/>
              </a:rPr>
              <a:t>The D12 axle </a:t>
            </a:r>
            <a:r>
              <a:rPr lang="en-US" sz="1250" dirty="0">
                <a:solidFill>
                  <a:srgbClr val="1A1A1A"/>
                </a:solidFill>
                <a:latin typeface="Calibri" pitchFamily="34" charset="0"/>
                <a:ea typeface="Calibri" pitchFamily="34" charset="-122"/>
                <a:cs typeface="Calibri" pitchFamily="34" charset="-120"/>
              </a:rPr>
              <a:t>is the one I'm watching - a 700 mm rod can flex. If deflection &gt; 3 mm I'll go D15 or add a center support.</a:t>
            </a:r>
            <a:endParaRPr lang="en-US" sz="1250" dirty="0"/>
          </a:p>
        </p:txBody>
      </p:sp>
      <p:sp>
        <p:nvSpPr>
          <p:cNvPr id="8" name="Shape 5"/>
          <p:cNvSpPr/>
          <p:nvPr/>
        </p:nvSpPr>
        <p:spPr>
          <a:xfrm>
            <a:off x="457200" y="6126480"/>
            <a:ext cx="6858000" cy="1188720"/>
          </a:xfrm>
          <a:prstGeom prst="rect">
            <a:avLst/>
          </a:prstGeom>
          <a:solidFill>
            <a:srgbClr val="D9E6D4"/>
          </a:solidFill>
          <a:ln w="6350">
            <a:solidFill>
              <a:srgbClr val="AAAAAA"/>
            </a:solidFill>
            <a:prstDash val="solid"/>
          </a:ln>
        </p:spPr>
        <p:txBody>
          <a:bodyPr/>
          <a:lstStyle/>
          <a:p>
            <a:endParaRPr lang="es-CO"/>
          </a:p>
        </p:txBody>
      </p:sp>
      <p:sp>
        <p:nvSpPr>
          <p:cNvPr id="9" name="Text 6"/>
          <p:cNvSpPr/>
          <p:nvPr/>
        </p:nvSpPr>
        <p:spPr>
          <a:xfrm>
            <a:off x="548640" y="619963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Motion study comes first
</a:t>
            </a:r>
            <a:r>
              <a:rPr lang="en-US" sz="900" dirty="0">
                <a:solidFill>
                  <a:srgbClr val="1A1A1A"/>
                </a:solidFill>
                <a:latin typeface="Calibri" pitchFamily="34" charset="0"/>
                <a:ea typeface="Calibri" pitchFamily="34" charset="-122"/>
                <a:cs typeface="Calibri" pitchFamily="34" charset="-120"/>
              </a:rPr>
              <a:t>Before FEA I check the kinematics: the two rockers move in opposition, the bogie swings free, nothing collides. 11 revolute joints total. If the ball joints on the differential are set right the linkage transmits with no Motion Link - I already got that working.</a:t>
            </a:r>
            <a:endParaRPr lang="en-US" sz="10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Bill of materials</a:t>
            </a:r>
            <a:endParaRPr lang="en-US" sz="1800" dirty="0"/>
          </a:p>
        </p:txBody>
      </p:sp>
      <p:sp>
        <p:nvSpPr>
          <p:cNvPr id="4" name="Text 2"/>
          <p:cNvSpPr/>
          <p:nvPr/>
        </p:nvSpPr>
        <p:spPr>
          <a:xfrm>
            <a:off x="457200" y="1097280"/>
            <a:ext cx="6858000" cy="320040"/>
          </a:xfrm>
          <a:prstGeom prst="rect">
            <a:avLst/>
          </a:prstGeom>
          <a:noFill/>
          <a:ln/>
        </p:spPr>
        <p:txBody>
          <a:bodyPr wrap="square" rtlCol="0" anchor="t"/>
          <a:lstStyle/>
          <a:p>
            <a:pPr marL="0" indent="0">
              <a:lnSpc>
                <a:spcPct val="112000"/>
              </a:lnSpc>
              <a:buNone/>
            </a:pPr>
            <a:r>
              <a:rPr lang="en-US" sz="1100" i="1" dirty="0">
                <a:solidFill>
                  <a:srgbClr val="1A1A1A"/>
                </a:solidFill>
                <a:latin typeface="Calibri" pitchFamily="34" charset="0"/>
                <a:ea typeface="Calibri" pitchFamily="34" charset="-122"/>
                <a:cs typeface="Calibri" pitchFamily="34" charset="-120"/>
              </a:rPr>
              <a:t>Prices in COP from I+D (Didacticas Electronicas, Medellin) and Bigtronica, early 2026. Ballpark - they drift.</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2797865357"/>
              </p:ext>
            </p:extLst>
          </p:nvPr>
        </p:nvGraphicFramePr>
        <p:xfrm>
          <a:off x="457200" y="1463040"/>
          <a:ext cx="6858000" cy="4169664"/>
        </p:xfrm>
        <a:graphic>
          <a:graphicData uri="http://schemas.openxmlformats.org/drawingml/2006/table">
            <a:tbl>
              <a:tblPr/>
              <a:tblGrid>
                <a:gridCol w="2834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 / price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JGB37 12V 50RPM (40 kg*cm)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BTS7960 43A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MG996R servo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PCA9685 PWM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D25x2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D20x2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Steel rod D12 x 700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Aluminum 2020 extrusion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Rod-end ball joints M5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Rim (PETG) + tire (TPU)</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Raspberry Pi 4 + Arduino R4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6" name="Shape 3"/>
          <p:cNvSpPr/>
          <p:nvPr/>
        </p:nvSpPr>
        <p:spPr>
          <a:xfrm>
            <a:off x="457200" y="6263640"/>
            <a:ext cx="6858000" cy="1280160"/>
          </a:xfrm>
          <a:prstGeom prst="rect">
            <a:avLst/>
          </a:prstGeom>
          <a:solidFill>
            <a:srgbClr val="DCE6F2"/>
          </a:solidFill>
          <a:ln w="6350">
            <a:solidFill>
              <a:srgbClr val="AAAAAA"/>
            </a:solidFill>
            <a:prstDash val="solid"/>
          </a:ln>
        </p:spPr>
        <p:txBody>
          <a:bodyPr/>
          <a:lstStyle/>
          <a:p>
            <a:endParaRPr lang="es-CO"/>
          </a:p>
        </p:txBody>
      </p:sp>
      <p:sp>
        <p:nvSpPr>
          <p:cNvPr id="7" name="Text 4"/>
          <p:cNvSpPr/>
          <p:nvPr/>
        </p:nvSpPr>
        <p:spPr>
          <a:xfrm>
            <a:off x="548640" y="633679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Filament + where I'm sourcing
</a:t>
            </a:r>
            <a:r>
              <a:rPr lang="en-US" sz="900" dirty="0">
                <a:solidFill>
                  <a:srgbClr val="1A1A1A"/>
                </a:solidFill>
                <a:latin typeface="Calibri" pitchFamily="34" charset="0"/>
                <a:ea typeface="Calibri" pitchFamily="34" charset="-122"/>
                <a:cs typeface="Calibri" pitchFamily="34" charset="-120"/>
              </a:rPr>
              <a:t>~600 g PETG (joints, mounts, rims, bearing blocks, balancin, clamps) + ~250 g TPU 95A (tires). All suppliers are in Medellin: I+D (Suramericana + CC La Cascada), Bigtronica, El Palacio del Aluminio, Grupo Roldan, Electronilab. Steel rod + pins from any steel depot - I ask for 'barra calibrada D12'.</a:t>
            </a:r>
            <a:endParaRPr lang="en-US" sz="1000" dirty="0"/>
          </a:p>
        </p:txBody>
      </p:sp>
      <p:sp>
        <p:nvSpPr>
          <p:cNvPr id="8" name="Shape 5"/>
          <p:cNvSpPr/>
          <p:nvPr/>
        </p:nvSpPr>
        <p:spPr>
          <a:xfrm>
            <a:off x="457200" y="7726680"/>
            <a:ext cx="6858000" cy="1508760"/>
          </a:xfrm>
          <a:prstGeom prst="rect">
            <a:avLst/>
          </a:prstGeom>
          <a:solidFill>
            <a:srgbClr val="F4F4F0"/>
          </a:solidFill>
          <a:ln w="12700">
            <a:solidFill>
              <a:srgbClr val="999999"/>
            </a:solidFill>
            <a:prstDash val="dash"/>
          </a:ln>
        </p:spPr>
        <p:txBody>
          <a:bodyPr/>
          <a:lstStyle/>
          <a:p>
            <a:endParaRPr lang="es-CO"/>
          </a:p>
        </p:txBody>
      </p:sp>
      <p:sp>
        <p:nvSpPr>
          <p:cNvPr id="10" name="Shape 7"/>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1" name="Text 8"/>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2" name="Text 9"/>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3" name="Text 10"/>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4" name="Text 11"/>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3293</Words>
  <Application>Microsoft Office PowerPoint</Application>
  <PresentationFormat>Personalizado</PresentationFormat>
  <Paragraphs>421</Paragraphs>
  <Slides>15</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Sebastian Ortiz</cp:lastModifiedBy>
  <cp:revision>3</cp:revision>
  <dcterms:created xsi:type="dcterms:W3CDTF">2026-07-01T02:23:16Z</dcterms:created>
  <dcterms:modified xsi:type="dcterms:W3CDTF">2026-07-01T23:28:10Z</dcterms:modified>
</cp:coreProperties>
</file>