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3"/>
    <p:sldId id="272" r:id="rId24"/>
    <p:sldId id="273" r:id="rId25"/>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295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Ortiz" userId="773f68a2549011c7" providerId="LiveId" clId="{76860DA8-2F0E-4920-88CB-81A8E296120B}"/>
    <pc:docChg chg="custSel modSld">
      <pc:chgData name="Sebastian Ortiz" userId="773f68a2549011c7" providerId="LiveId" clId="{76860DA8-2F0E-4920-88CB-81A8E296120B}" dt="2026-07-01T23:00:27.096" v="45" actId="478"/>
      <pc:docMkLst>
        <pc:docMk/>
      </pc:docMkLst>
      <pc:sldChg chg="modSp mod">
        <pc:chgData name="Sebastian Ortiz" userId="773f68a2549011c7" providerId="LiveId" clId="{76860DA8-2F0E-4920-88CB-81A8E296120B}" dt="2026-07-01T22:47:29.745" v="1" actId="1076"/>
        <pc:sldMkLst>
          <pc:docMk/>
          <pc:sldMk cId="0" sldId="256"/>
        </pc:sldMkLst>
        <pc:picChg chg="mod">
          <ac:chgData name="Sebastian Ortiz" userId="773f68a2549011c7" providerId="LiveId" clId="{76860DA8-2F0E-4920-88CB-81A8E296120B}" dt="2026-07-01T22:47:29.745" v="1" actId="1076"/>
          <ac:picMkLst>
            <pc:docMk/>
            <pc:sldMk cId="0" sldId="256"/>
            <ac:picMk id="2" creationId="{00000000-0000-0000-0000-000000000000}"/>
          </ac:picMkLst>
        </pc:picChg>
      </pc:sldChg>
      <pc:sldChg chg="delSp modSp mod">
        <pc:chgData name="Sebastian Ortiz" userId="773f68a2549011c7" providerId="LiveId" clId="{76860DA8-2F0E-4920-88CB-81A8E296120B}" dt="2026-07-01T22:52:27.964" v="4" actId="478"/>
        <pc:sldMkLst>
          <pc:docMk/>
          <pc:sldMk cId="0" sldId="259"/>
        </pc:sldMkLst>
        <pc:spChg chg="del">
          <ac:chgData name="Sebastian Ortiz" userId="773f68a2549011c7" providerId="LiveId" clId="{76860DA8-2F0E-4920-88CB-81A8E296120B}" dt="2026-07-01T22:52:24.246" v="2" actId="478"/>
          <ac:spMkLst>
            <pc:docMk/>
            <pc:sldMk cId="0" sldId="259"/>
            <ac:spMk id="10" creationId="{00000000-0000-0000-0000-000000000000}"/>
          </ac:spMkLst>
        </pc:spChg>
        <pc:spChg chg="del mod">
          <ac:chgData name="Sebastian Ortiz" userId="773f68a2549011c7" providerId="LiveId" clId="{76860DA8-2F0E-4920-88CB-81A8E296120B}" dt="2026-07-01T22:52:27.964" v="4" actId="478"/>
          <ac:spMkLst>
            <pc:docMk/>
            <pc:sldMk cId="0" sldId="259"/>
            <ac:spMk id="11" creationId="{00000000-0000-0000-0000-000000000000}"/>
          </ac:spMkLst>
        </pc:spChg>
      </pc:sldChg>
      <pc:sldChg chg="delSp modSp mod">
        <pc:chgData name="Sebastian Ortiz" userId="773f68a2549011c7" providerId="LiveId" clId="{76860DA8-2F0E-4920-88CB-81A8E296120B}" dt="2026-07-01T22:53:33.950" v="7" actId="478"/>
        <pc:sldMkLst>
          <pc:docMk/>
          <pc:sldMk cId="0" sldId="260"/>
        </pc:sldMkLst>
        <pc:spChg chg="del mod">
          <ac:chgData name="Sebastian Ortiz" userId="773f68a2549011c7" providerId="LiveId" clId="{76860DA8-2F0E-4920-88CB-81A8E296120B}" dt="2026-07-01T22:53:31.878" v="6" actId="478"/>
          <ac:spMkLst>
            <pc:docMk/>
            <pc:sldMk cId="0" sldId="260"/>
            <ac:spMk id="12" creationId="{00000000-0000-0000-0000-000000000000}"/>
          </ac:spMkLst>
        </pc:spChg>
        <pc:spChg chg="del">
          <ac:chgData name="Sebastian Ortiz" userId="773f68a2549011c7" providerId="LiveId" clId="{76860DA8-2F0E-4920-88CB-81A8E296120B}" dt="2026-07-01T22:53:33.950" v="7" actId="478"/>
          <ac:spMkLst>
            <pc:docMk/>
            <pc:sldMk cId="0" sldId="260"/>
            <ac:spMk id="13" creationId="{00000000-0000-0000-0000-000000000000}"/>
          </ac:spMkLst>
        </pc:spChg>
      </pc:sldChg>
      <pc:sldChg chg="addSp modSp mod">
        <pc:chgData name="Sebastian Ortiz" userId="773f68a2549011c7" providerId="LiveId" clId="{76860DA8-2F0E-4920-88CB-81A8E296120B}" dt="2026-07-01T22:55:43.992" v="11" actId="14100"/>
        <pc:sldMkLst>
          <pc:docMk/>
          <pc:sldMk cId="0" sldId="261"/>
        </pc:sldMkLst>
        <pc:picChg chg="add mod">
          <ac:chgData name="Sebastian Ortiz" userId="773f68a2549011c7" providerId="LiveId" clId="{76860DA8-2F0E-4920-88CB-81A8E296120B}" dt="2026-07-01T22:55:43.992" v="11" actId="14100"/>
          <ac:picMkLst>
            <pc:docMk/>
            <pc:sldMk cId="0" sldId="261"/>
            <ac:picMk id="23" creationId="{D8680344-AB4D-812B-610A-1FE22BA92EB2}"/>
          </ac:picMkLst>
        </pc:picChg>
      </pc:sldChg>
      <pc:sldChg chg="delSp modSp mod">
        <pc:chgData name="Sebastian Ortiz" userId="773f68a2549011c7" providerId="LiveId" clId="{76860DA8-2F0E-4920-88CB-81A8E296120B}" dt="2026-07-01T22:57:07.860" v="14" actId="478"/>
        <pc:sldMkLst>
          <pc:docMk/>
          <pc:sldMk cId="0" sldId="262"/>
        </pc:sldMkLst>
        <pc:spChg chg="del">
          <ac:chgData name="Sebastian Ortiz" userId="773f68a2549011c7" providerId="LiveId" clId="{76860DA8-2F0E-4920-88CB-81A8E296120B}" dt="2026-07-01T22:57:02.727" v="12" actId="478"/>
          <ac:spMkLst>
            <pc:docMk/>
            <pc:sldMk cId="0" sldId="262"/>
            <ac:spMk id="13" creationId="{00000000-0000-0000-0000-000000000000}"/>
          </ac:spMkLst>
        </pc:spChg>
        <pc:spChg chg="del mod">
          <ac:chgData name="Sebastian Ortiz" userId="773f68a2549011c7" providerId="LiveId" clId="{76860DA8-2F0E-4920-88CB-81A8E296120B}" dt="2026-07-01T22:57:07.860" v="14" actId="478"/>
          <ac:spMkLst>
            <pc:docMk/>
            <pc:sldMk cId="0" sldId="262"/>
            <ac:spMk id="14" creationId="{00000000-0000-0000-0000-000000000000}"/>
          </ac:spMkLst>
        </pc:spChg>
      </pc:sldChg>
      <pc:sldChg chg="delSp mod">
        <pc:chgData name="Sebastian Ortiz" userId="773f68a2549011c7" providerId="LiveId" clId="{76860DA8-2F0E-4920-88CB-81A8E296120B}" dt="2026-07-01T22:58:02.201" v="16" actId="478"/>
        <pc:sldMkLst>
          <pc:docMk/>
          <pc:sldMk cId="0" sldId="264"/>
        </pc:sldMkLst>
        <pc:spChg chg="del">
          <ac:chgData name="Sebastian Ortiz" userId="773f68a2549011c7" providerId="LiveId" clId="{76860DA8-2F0E-4920-88CB-81A8E296120B}" dt="2026-07-01T22:57:58.280" v="15" actId="478"/>
          <ac:spMkLst>
            <pc:docMk/>
            <pc:sldMk cId="0" sldId="264"/>
            <ac:spMk id="12" creationId="{00000000-0000-0000-0000-000000000000}"/>
          </ac:spMkLst>
        </pc:spChg>
        <pc:spChg chg="del">
          <ac:chgData name="Sebastian Ortiz" userId="773f68a2549011c7" providerId="LiveId" clId="{76860DA8-2F0E-4920-88CB-81A8E296120B}" dt="2026-07-01T22:58:02.201" v="16" actId="478"/>
          <ac:spMkLst>
            <pc:docMk/>
            <pc:sldMk cId="0" sldId="264"/>
            <ac:spMk id="13" creationId="{00000000-0000-0000-0000-000000000000}"/>
          </ac:spMkLst>
        </pc:spChg>
      </pc:sldChg>
      <pc:sldChg chg="addSp delSp modSp mod">
        <pc:chgData name="Sebastian Ortiz" userId="773f68a2549011c7" providerId="LiveId" clId="{76860DA8-2F0E-4920-88CB-81A8E296120B}" dt="2026-07-01T22:58:38.344" v="29" actId="1076"/>
        <pc:sldMkLst>
          <pc:docMk/>
          <pc:sldMk cId="0" sldId="265"/>
        </pc:sldMkLst>
        <pc:spChg chg="del">
          <ac:chgData name="Sebastian Ortiz" userId="773f68a2549011c7" providerId="LiveId" clId="{76860DA8-2F0E-4920-88CB-81A8E296120B}" dt="2026-07-01T22:58:37.441" v="28" actId="478"/>
          <ac:spMkLst>
            <pc:docMk/>
            <pc:sldMk cId="0" sldId="265"/>
            <ac:spMk id="4" creationId="{00000000-0000-0000-0000-000000000000}"/>
          </ac:spMkLst>
        </pc:spChg>
        <pc:spChg chg="mod">
          <ac:chgData name="Sebastian Ortiz" userId="773f68a2549011c7" providerId="LiveId" clId="{76860DA8-2F0E-4920-88CB-81A8E296120B}" dt="2026-07-01T22:58:09.386" v="17" actId="6549"/>
          <ac:spMkLst>
            <pc:docMk/>
            <pc:sldMk cId="0" sldId="265"/>
            <ac:spMk id="12" creationId="{00000000-0000-0000-0000-000000000000}"/>
          </ac:spMkLst>
        </pc:spChg>
        <pc:picChg chg="add mod">
          <ac:chgData name="Sebastian Ortiz" userId="773f68a2549011c7" providerId="LiveId" clId="{76860DA8-2F0E-4920-88CB-81A8E296120B}" dt="2026-07-01T22:58:38.344" v="29" actId="1076"/>
          <ac:picMkLst>
            <pc:docMk/>
            <pc:sldMk cId="0" sldId="265"/>
            <ac:picMk id="19" creationId="{1F536A46-ACC4-913F-197B-75A82C7CFF08}"/>
          </ac:picMkLst>
        </pc:picChg>
      </pc:sldChg>
      <pc:sldChg chg="addSp delSp modSp mod">
        <pc:chgData name="Sebastian Ortiz" userId="773f68a2549011c7" providerId="LiveId" clId="{76860DA8-2F0E-4920-88CB-81A8E296120B}" dt="2026-07-01T23:00:27.096" v="45" actId="478"/>
        <pc:sldMkLst>
          <pc:docMk/>
          <pc:sldMk cId="0" sldId="266"/>
        </pc:sldMkLst>
        <pc:spChg chg="del">
          <ac:chgData name="Sebastian Ortiz" userId="773f68a2549011c7" providerId="LiveId" clId="{76860DA8-2F0E-4920-88CB-81A8E296120B}" dt="2026-07-01T23:00:24.664" v="44" actId="478"/>
          <ac:spMkLst>
            <pc:docMk/>
            <pc:sldMk cId="0" sldId="266"/>
            <ac:spMk id="8" creationId="{00000000-0000-0000-0000-000000000000}"/>
          </ac:spMkLst>
        </pc:spChg>
        <pc:spChg chg="del">
          <ac:chgData name="Sebastian Ortiz" userId="773f68a2549011c7" providerId="LiveId" clId="{76860DA8-2F0E-4920-88CB-81A8E296120B}" dt="2026-07-01T23:00:27.096" v="45" actId="478"/>
          <ac:spMkLst>
            <pc:docMk/>
            <pc:sldMk cId="0" sldId="266"/>
            <ac:spMk id="9" creationId="{00000000-0000-0000-0000-000000000000}"/>
          </ac:spMkLst>
        </pc:spChg>
        <pc:spChg chg="del">
          <ac:chgData name="Sebastian Ortiz" userId="773f68a2549011c7" providerId="LiveId" clId="{76860DA8-2F0E-4920-88CB-81A8E296120B}" dt="2026-07-01T22:59:05.122" v="32" actId="478"/>
          <ac:spMkLst>
            <pc:docMk/>
            <pc:sldMk cId="0" sldId="266"/>
            <ac:spMk id="14" creationId="{00000000-0000-0000-0000-000000000000}"/>
          </ac:spMkLst>
        </pc:spChg>
        <pc:spChg chg="del mod">
          <ac:chgData name="Sebastian Ortiz" userId="773f68a2549011c7" providerId="LiveId" clId="{76860DA8-2F0E-4920-88CB-81A8E296120B}" dt="2026-07-01T22:59:04.345" v="31" actId="478"/>
          <ac:spMkLst>
            <pc:docMk/>
            <pc:sldMk cId="0" sldId="266"/>
            <ac:spMk id="15" creationId="{00000000-0000-0000-0000-000000000000}"/>
          </ac:spMkLst>
        </pc:spChg>
        <pc:picChg chg="add mod">
          <ac:chgData name="Sebastian Ortiz" userId="773f68a2549011c7" providerId="LiveId" clId="{76860DA8-2F0E-4920-88CB-81A8E296120B}" dt="2026-07-01T23:00:23.254" v="43" actId="1076"/>
          <ac:picMkLst>
            <pc:docMk/>
            <pc:sldMk cId="0" sldId="266"/>
            <ac:picMk id="22" creationId="{B63E306E-06AF-882B-3B33-9901092457C8}"/>
          </ac:picMkLst>
        </pc:picChg>
      </pc:sldChg>
      <pc:sldChg chg="delSp modSp mod">
        <pc:chgData name="Sebastian Ortiz" userId="773f68a2549011c7" providerId="LiveId" clId="{76860DA8-2F0E-4920-88CB-81A8E296120B}" dt="2026-07-01T22:59:14.080" v="35" actId="478"/>
        <pc:sldMkLst>
          <pc:docMk/>
          <pc:sldMk cId="0" sldId="267"/>
        </pc:sldMkLst>
        <pc:spChg chg="del mod">
          <ac:chgData name="Sebastian Ortiz" userId="773f68a2549011c7" providerId="LiveId" clId="{76860DA8-2F0E-4920-88CB-81A8E296120B}" dt="2026-07-01T22:59:14.080" v="35" actId="478"/>
          <ac:spMkLst>
            <pc:docMk/>
            <pc:sldMk cId="0" sldId="267"/>
            <ac:spMk id="7" creationId="{00000000-0000-0000-0000-000000000000}"/>
          </ac:spMkLst>
        </pc:spChg>
        <pc:spChg chg="del">
          <ac:chgData name="Sebastian Ortiz" userId="773f68a2549011c7" providerId="LiveId" clId="{76860DA8-2F0E-4920-88CB-81A8E296120B}" dt="2026-07-01T22:59:08.810" v="33" actId="478"/>
          <ac:spMkLst>
            <pc:docMk/>
            <pc:sldMk cId="0" sldId="267"/>
            <ac:spMk id="12" creationId="{00000000-0000-0000-0000-000000000000}"/>
          </ac:spMkLst>
        </pc:spChg>
      </pc:sldChg>
      <pc:sldChg chg="delSp modSp mod">
        <pc:chgData name="Sebastian Ortiz" userId="773f68a2549011c7" providerId="LiveId" clId="{76860DA8-2F0E-4920-88CB-81A8E296120B}" dt="2026-07-01T22:59:27.117" v="38" actId="478"/>
        <pc:sldMkLst>
          <pc:docMk/>
          <pc:sldMk cId="0" sldId="269"/>
        </pc:sldMkLst>
        <pc:spChg chg="del">
          <ac:chgData name="Sebastian Ortiz" userId="773f68a2549011c7" providerId="LiveId" clId="{76860DA8-2F0E-4920-88CB-81A8E296120B}" dt="2026-07-01T22:59:23.510" v="36" actId="478"/>
          <ac:spMkLst>
            <pc:docMk/>
            <pc:sldMk cId="0" sldId="269"/>
            <ac:spMk id="10" creationId="{00000000-0000-0000-0000-000000000000}"/>
          </ac:spMkLst>
        </pc:spChg>
        <pc:spChg chg="del mod">
          <ac:chgData name="Sebastian Ortiz" userId="773f68a2549011c7" providerId="LiveId" clId="{76860DA8-2F0E-4920-88CB-81A8E296120B}" dt="2026-07-01T22:59:27.117" v="38" actId="478"/>
          <ac:spMkLst>
            <pc:docMk/>
            <pc:sldMk cId="0" sldId="269"/>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2297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cover.png"/>
          <p:cNvPicPr>
            <a:picLocks noChangeAspect="1"/>
          </p:cNvPicPr>
          <p:nvPr/>
        </p:nvPicPr>
        <p:blipFill>
          <a:blip r:embed="rId3"/>
          <a:stretch>
            <a:fillRect/>
          </a:stretch>
        </p:blipFill>
        <p:spPr>
          <a:xfrm>
            <a:off x="-749300" y="-444500"/>
            <a:ext cx="7772400" cy="10058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Table of Contents</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858000" cy="5760720"/>
        </p:xfrm>
        <a:graphic>
          <a:graphicData uri="http://schemas.openxmlformats.org/drawingml/2006/table">
            <a:tbl>
              <a:tblPr/>
              <a:tblGrid>
                <a:gridCol w="9144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Page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Entry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What I'm building &amp; why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The targets I set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Digging into rocker-bogie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Running the geometry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Loads &amp; how high it can climb</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Going round tube + printed joints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The differential mess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Nailing the differential geometry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Steering &amp; getting the wheels level</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Shrinking the chassis to 900x600</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Picking motors &amp; battery</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My FEA plan (targets)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Bill of materials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06/30/2026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Redesigning the wheel joint: bearing + real angles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08/09/2026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Turning the shopping list into a real order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08/09/2026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Where I'm at &amp; what's next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08/09/2026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5" name="Shape 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6" name="Text 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7" name="Text 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8" name="Text 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9" name="Text 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What I'm building &amp; why</a:t>
            </a:r>
            <a:endParaRPr lang="en-US" sz="1800" dirty="0"/>
          </a:p>
        </p:txBody>
      </p:sp>
      <p:sp>
        <p:nvSpPr>
          <p:cNvPr id="4" name="Text 2"/>
          <p:cNvSpPr/>
          <p:nvPr/>
        </p:nvSpPr>
        <p:spPr>
          <a:xfrm>
            <a:off x="457200" y="10972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The idea</a:t>
            </a:r>
            <a:endParaRPr lang="en-US" sz="1100" dirty="0"/>
          </a:p>
        </p:txBody>
      </p:sp>
      <p:sp>
        <p:nvSpPr>
          <p:cNvPr id="5" name="Text 3"/>
          <p:cNvSpPr/>
          <p:nvPr/>
        </p:nvSpPr>
        <p:spPr>
          <a:xfrm>
            <a:off x="457200" y="1463040"/>
            <a:ext cx="6858000" cy="1097280"/>
          </a:xfrm>
          <a:prstGeom prst="rect">
            <a:avLst/>
          </a:prstGeom>
          <a:noFill/>
          <a:ln/>
        </p:spPr>
        <p:txBody>
          <a:bodyPr wrap="square" rtlCol="0" anchor="t"/>
          <a:lstStyle/>
          <a:p>
            <a:pPr marL="0" indent="0">
              <a:lnSpc>
                <a:spcPct val="112000"/>
              </a:lnSpc>
              <a:buNone/>
            </a:pPr>
            <a:r>
              <a:rPr lang="en-US" sz="1300" dirty="0">
                <a:solidFill>
                  <a:srgbClr val="1A1A1A"/>
                </a:solidFill>
                <a:latin typeface="Calibri" pitchFamily="34" charset="0"/>
                <a:ea typeface="Calibri" pitchFamily="34" charset="-122"/>
                <a:cs typeface="Calibri" pitchFamily="34" charset="-120"/>
              </a:rPr>
              <a:t>I'm building a low-cost 6-wheel rover that drives itself over rough ground - dirt, gravel, grass - grabs soil and plant samples on its own, and runs actual biology and geology tests onboard. Basically a tiny Mars rover, except I'm doing it with a 3D printer, cheap motors, and a Raspberry Pi instead of a NASA budget. This notebook is my movement/suspension system: how I got from "I want a rover" to an actual Fusion model.</a:t>
            </a:r>
            <a:endParaRPr lang="en-US" sz="1300" dirty="0"/>
          </a:p>
        </p:txBody>
      </p:sp>
      <p:sp>
        <p:nvSpPr>
          <p:cNvPr id="6" name="Text 4"/>
          <p:cNvSpPr/>
          <p:nvPr/>
        </p:nvSpPr>
        <p:spPr>
          <a:xfrm>
            <a:off x="457200" y="2651760"/>
            <a:ext cx="1828800" cy="274320"/>
          </a:xfrm>
          <a:prstGeom prst="rect">
            <a:avLst/>
          </a:prstGeom>
          <a:solidFill>
            <a:srgbClr val="DCE6F2"/>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it needs to do</a:t>
            </a:r>
            <a:endParaRPr lang="en-US" sz="1100" dirty="0"/>
          </a:p>
        </p:txBody>
      </p:sp>
      <p:sp>
        <p:nvSpPr>
          <p:cNvPr id="7" name="Text 5"/>
          <p:cNvSpPr/>
          <p:nvPr/>
        </p:nvSpPr>
        <p:spPr>
          <a:xfrm>
            <a:off x="548640" y="3017520"/>
            <a:ext cx="6675120" cy="173736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 drive itself - SLAM mapping + AR marker detection
- survive rough terrain - passive rocker-bogie keeps all 6 wheels down
- collect samples - 3-DOF arm with a scoop + sealed container
- run field biology - Biuret protein test + pigment detection with an RGB sensor
- read soil moisture - capacitive sensor
- fall back to teleop - live camera over local WiFi</a:t>
            </a:r>
            <a:endParaRPr lang="en-US" sz="1250" dirty="0"/>
          </a:p>
        </p:txBody>
      </p:sp>
      <p:sp>
        <p:nvSpPr>
          <p:cNvPr id="8" name="Text 6"/>
          <p:cNvSpPr/>
          <p:nvPr/>
        </p:nvSpPr>
        <p:spPr>
          <a:xfrm>
            <a:off x="457200" y="484632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Why rocker-bogie</a:t>
            </a:r>
            <a:endParaRPr lang="en-US" sz="1100" dirty="0"/>
          </a:p>
        </p:txBody>
      </p:sp>
      <p:sp>
        <p:nvSpPr>
          <p:cNvPr id="9" name="Text 7"/>
          <p:cNvSpPr/>
          <p:nvPr/>
        </p:nvSpPr>
        <p:spPr>
          <a:xfrm>
            <a:off x="457200" y="5212080"/>
            <a:ext cx="6858000" cy="100584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I went with rocker-bogie because it's what the real Mars rovers use (Sojourner, Curiosity, Perseverance). It's fully passive - no springs, no shocks - and the geometry alone keeps at least 4 wheels on the ground no matter how rough it gets. For a rover carrying a delicate onboard lab across unpredictable ground, that's exactly what I want.</a:t>
            </a:r>
            <a:endParaRPr lang="en-US" sz="1250" dirty="0"/>
          </a:p>
        </p:txBody>
      </p:sp>
      <p:sp>
        <p:nvSpPr>
          <p:cNvPr id="10" name="Shape 8"/>
          <p:cNvSpPr/>
          <p:nvPr/>
        </p:nvSpPr>
        <p:spPr>
          <a:xfrm>
            <a:off x="457200" y="6400800"/>
            <a:ext cx="6858000" cy="2834640"/>
          </a:xfrm>
          <a:prstGeom prst="rect">
            <a:avLst/>
          </a:prstGeom>
          <a:solidFill>
            <a:srgbClr val="F4F4F0"/>
          </a:solidFill>
          <a:ln w="12700">
            <a:solidFill>
              <a:srgbClr val="999999"/>
            </a:solidFill>
            <a:prstDash val="dash"/>
          </a:ln>
        </p:spPr>
        <p:txBody>
          <a:bodyPr/>
          <a:lstStyle/>
          <a:p>
            <a:endParaRPr lang="es-CO"/>
          </a:p>
        </p:txBody>
      </p:sp>
      <p:sp>
        <p:nvSpPr>
          <p:cNvPr id="12" name="Shape 10"/>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3" name="Text 11"/>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4" name="Text 12"/>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5" name="Text 13"/>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6" name="Text 14"/>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targets I set</a:t>
            </a:r>
            <a:endParaRPr lang="en-US" sz="1800" dirty="0"/>
          </a:p>
        </p:txBody>
      </p:sp>
      <p:sp>
        <p:nvSpPr>
          <p:cNvPr id="4" name="Text 2"/>
          <p:cNvSpPr/>
          <p:nvPr/>
        </p:nvSpPr>
        <p:spPr>
          <a:xfrm>
            <a:off x="457200" y="1097280"/>
            <a:ext cx="6858000" cy="365760"/>
          </a:xfrm>
          <a:prstGeom prst="rect">
            <a:avLst/>
          </a:prstGeom>
          <a:noFill/>
          <a:ln/>
        </p:spPr>
        <p:txBody>
          <a:bodyPr wrap="square" rtlCol="0" anchor="t"/>
          <a:lstStyle/>
          <a:p>
            <a:pPr marL="0" indent="0">
              <a:lnSpc>
                <a:spcPct val="112000"/>
              </a:lnSpc>
              <a:buNone/>
            </a:pPr>
            <a:r>
              <a:rPr lang="en-US" sz="1200" i="1" dirty="0">
                <a:solidFill>
                  <a:srgbClr val="1A1A1A"/>
                </a:solidFill>
                <a:latin typeface="Calibri" pitchFamily="34" charset="0"/>
                <a:ea typeface="Calibri" pitchFamily="34" charset="-122"/>
                <a:cs typeface="Calibri" pitchFamily="34" charset="-120"/>
              </a:rPr>
              <a:t>Before touching any math I pinned down what the rover actually had to hit: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858000" cy="3840480"/>
        </p:xfrm>
        <a:graphic>
          <a:graphicData uri="http://schemas.openxmlformats.org/drawingml/2006/table">
            <a:tbl>
              <a:tblPr/>
              <a:tblGrid>
                <a:gridCol w="9144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What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R-01</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Chassis width</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600 mm</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R-02</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Chassis length</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900 mm (turns out 1200 wasn't fixed)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R-03</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150 mm/s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R-04</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Obstacle it can climb</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300 mm (1.5 x wheel D)</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R-05</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Driven wheels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6 (3 per side)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R-06</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Suspension</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passive rocker-bogie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R-07</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Steering</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servos on the 4 corner wheels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R-08</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Terrain</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dirt, gravel, grass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R-09</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Working mass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~30 kg</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Shape 3"/>
          <p:cNvSpPr/>
          <p:nvPr/>
        </p:nvSpPr>
        <p:spPr>
          <a:xfrm>
            <a:off x="457200" y="5760720"/>
            <a:ext cx="3291840" cy="1554480"/>
          </a:xfrm>
          <a:prstGeom prst="rect">
            <a:avLst/>
          </a:prstGeom>
          <a:solidFill>
            <a:srgbClr val="FCEFA6"/>
          </a:solidFill>
          <a:ln w="6350">
            <a:solidFill>
              <a:srgbClr val="AAAAAA"/>
            </a:solidFill>
            <a:prstDash val="solid"/>
          </a:ln>
        </p:spPr>
        <p:txBody>
          <a:bodyPr/>
          <a:lstStyle/>
          <a:p>
            <a:endParaRPr lang="es-CO"/>
          </a:p>
        </p:txBody>
      </p:sp>
      <p:sp>
        <p:nvSpPr>
          <p:cNvPr id="7" name="Text 4"/>
          <p:cNvSpPr/>
          <p:nvPr/>
        </p:nvSpPr>
        <p:spPr>
          <a:xfrm>
            <a:off x="548640" y="5833872"/>
            <a:ext cx="3108960" cy="140817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The mass kept climbing
</a:t>
            </a:r>
            <a:r>
              <a:rPr lang="en-US" sz="900" dirty="0">
                <a:solidFill>
                  <a:srgbClr val="1A1A1A"/>
                </a:solidFill>
                <a:latin typeface="Calibri" pitchFamily="34" charset="0"/>
                <a:ea typeface="Calibri" pitchFamily="34" charset="-122"/>
                <a:cs typeface="Calibri" pitchFamily="34" charset="-120"/>
              </a:rPr>
              <a:t>I started guessing ~22 kg, then bumped it to 30 kg to be safe once I counted the aluminum frame, the onboard lab, and the sampling arm. That 30 kg is what drove my motor and battery choices later (page 13).</a:t>
            </a:r>
            <a:endParaRPr lang="en-US" sz="1000" dirty="0"/>
          </a:p>
        </p:txBody>
      </p:sp>
      <p:sp>
        <p:nvSpPr>
          <p:cNvPr id="8" name="Shape 5"/>
          <p:cNvSpPr/>
          <p:nvPr/>
        </p:nvSpPr>
        <p:spPr>
          <a:xfrm>
            <a:off x="4023360" y="5760720"/>
            <a:ext cx="3291840" cy="1554480"/>
          </a:xfrm>
          <a:prstGeom prst="rect">
            <a:avLst/>
          </a:prstGeom>
          <a:solidFill>
            <a:srgbClr val="DCE6F2"/>
          </a:solidFill>
          <a:ln w="6350">
            <a:solidFill>
              <a:srgbClr val="AAAAAA"/>
            </a:solidFill>
            <a:prstDash val="solid"/>
          </a:ln>
        </p:spPr>
        <p:txBody>
          <a:bodyPr/>
          <a:lstStyle/>
          <a:p>
            <a:endParaRPr lang="es-CO"/>
          </a:p>
        </p:txBody>
      </p:sp>
      <p:sp>
        <p:nvSpPr>
          <p:cNvPr id="9" name="Text 6"/>
          <p:cNvSpPr/>
          <p:nvPr/>
        </p:nvSpPr>
        <p:spPr>
          <a:xfrm>
            <a:off x="4114800" y="5833872"/>
            <a:ext cx="3108960" cy="140817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Wheelbase != chassis length
</a:t>
            </a:r>
            <a:r>
              <a:rPr lang="en-US" sz="900" dirty="0">
                <a:solidFill>
                  <a:srgbClr val="1A1A1A"/>
                </a:solidFill>
                <a:latin typeface="Calibri" pitchFamily="34" charset="0"/>
                <a:ea typeface="Calibri" pitchFamily="34" charset="-122"/>
                <a:cs typeface="Calibri" pitchFamily="34" charset="-120"/>
              </a:rPr>
              <a:t>Big realization: I stopped tying the wheelbase to the chassis length. Keeping them independent is what let me shrink the body to 900 mm while keeping a 1000 mm wheelbase - so the wheels wrap the body.</a:t>
            </a:r>
            <a:endParaRPr lang="en-US" sz="1000" dirty="0"/>
          </a:p>
        </p:txBody>
      </p:sp>
      <p:sp>
        <p:nvSpPr>
          <p:cNvPr id="12" name="Shape 9"/>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3" name="Text 10"/>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4" name="Text 11"/>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5" name="Text 12"/>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6" name="Text 13"/>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Digging into rocker-bogie</a:t>
            </a:r>
            <a:endParaRPr lang="en-US" sz="1800" dirty="0"/>
          </a:p>
        </p:txBody>
      </p:sp>
      <p:sp>
        <p:nvSpPr>
          <p:cNvPr id="4" name="Text 2"/>
          <p:cNvSpPr/>
          <p:nvPr/>
        </p:nvSpPr>
        <p:spPr>
          <a:xfrm>
            <a:off x="457200" y="10972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I read</a:t>
            </a:r>
            <a:endParaRPr lang="en-US" sz="1100" dirty="0"/>
          </a:p>
        </p:txBody>
      </p:sp>
      <p:sp>
        <p:nvSpPr>
          <p:cNvPr id="5" name="Text 3"/>
          <p:cNvSpPr/>
          <p:nvPr/>
        </p:nvSpPr>
        <p:spPr>
          <a:xfrm>
            <a:off x="548640" y="1463040"/>
            <a:ext cx="667512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I didn't want to wing the suspension, so I dug in. Verma et al. (2017) gave me the sizing formulas. Singh &amp; Jain (2020) covered how the load spreads and how the thing climbs. And I went through NASA JPL's Open Source Rover docs to see how they actually build the differential and joints.</a:t>
            </a:r>
            <a:endParaRPr lang="en-US" sz="1250" dirty="0"/>
          </a:p>
        </p:txBody>
      </p:sp>
      <p:sp>
        <p:nvSpPr>
          <p:cNvPr id="6" name="Text 4"/>
          <p:cNvSpPr/>
          <p:nvPr/>
        </p:nvSpPr>
        <p:spPr>
          <a:xfrm>
            <a:off x="457200" y="251460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stuck with me</a:t>
            </a:r>
            <a:endParaRPr lang="en-US" sz="1100" dirty="0"/>
          </a:p>
        </p:txBody>
      </p:sp>
      <p:sp>
        <p:nvSpPr>
          <p:cNvPr id="7" name="Text 5"/>
          <p:cNvSpPr/>
          <p:nvPr/>
        </p:nvSpPr>
        <p:spPr>
          <a:xfrm>
            <a:off x="548640" y="2880360"/>
            <a:ext cx="6675120" cy="1371600"/>
          </a:xfrm>
          <a:prstGeom prst="rect">
            <a:avLst/>
          </a:prstGeom>
          <a:noFill/>
          <a:ln/>
        </p:spPr>
        <p:txBody>
          <a:bodyPr wrap="square" rtlCol="0" anchor="t"/>
          <a:lstStyle/>
          <a:p>
            <a:pPr marL="0" indent="0">
              <a:lnSpc>
                <a:spcPct val="112000"/>
              </a:lnSpc>
              <a:buNone/>
            </a:pPr>
            <a:r>
              <a:rPr lang="en-US" sz="1250" b="1" dirty="0">
                <a:solidFill>
                  <a:srgbClr val="1A1A1A"/>
                </a:solidFill>
                <a:latin typeface="Calibri" pitchFamily="34" charset="0"/>
                <a:ea typeface="Calibri" pitchFamily="34" charset="-122"/>
                <a:cs typeface="Calibri" pitchFamily="34" charset="-120"/>
              </a:rPr>
              <a:t>6-wheel 3-3 layout </a:t>
            </a:r>
            <a:r>
              <a:rPr lang="en-US" sz="1250" dirty="0">
                <a:solidFill>
                  <a:srgbClr val="1A1A1A"/>
                </a:solidFill>
                <a:latin typeface="Calibri" pitchFamily="34" charset="0"/>
                <a:ea typeface="Calibri" pitchFamily="34" charset="-122"/>
                <a:cs typeface="Calibri" pitchFamily="34" charset="-120"/>
              </a:rPr>
              <a:t>keeps &gt;=4 wheels grounded at all times.
</a:t>
            </a:r>
            <a:r>
              <a:rPr lang="en-US" sz="1250" b="1" dirty="0">
                <a:solidFill>
                  <a:srgbClr val="1A1A1A"/>
                </a:solidFill>
                <a:latin typeface="Calibri" pitchFamily="34" charset="0"/>
                <a:ea typeface="Calibri" pitchFamily="34" charset="-122"/>
                <a:cs typeface="Calibri" pitchFamily="34" charset="-120"/>
              </a:rPr>
              <a:t>It's fully passive </a:t>
            </a:r>
            <a:r>
              <a:rPr lang="en-US" sz="1250" dirty="0">
                <a:solidFill>
                  <a:srgbClr val="1A1A1A"/>
                </a:solidFill>
                <a:latin typeface="Calibri" pitchFamily="34" charset="0"/>
                <a:ea typeface="Calibri" pitchFamily="34" charset="-122"/>
                <a:cs typeface="Calibri" pitchFamily="34" charset="-120"/>
              </a:rPr>
              <a:t>- the geometry does everything, no springs.
</a:t>
            </a:r>
            <a:r>
              <a:rPr lang="en-US" sz="1250" b="1" dirty="0">
                <a:solidFill>
                  <a:srgbClr val="1A1A1A"/>
                </a:solidFill>
                <a:latin typeface="Calibri" pitchFamily="34" charset="0"/>
                <a:ea typeface="Calibri" pitchFamily="34" charset="-122"/>
                <a:cs typeface="Calibri" pitchFamily="34" charset="-120"/>
              </a:rPr>
              <a:t>Bogie pivot position </a:t>
            </a:r>
            <a:r>
              <a:rPr lang="en-US" sz="1250" dirty="0">
                <a:solidFill>
                  <a:srgbClr val="1A1A1A"/>
                </a:solidFill>
                <a:latin typeface="Calibri" pitchFamily="34" charset="0"/>
                <a:ea typeface="Calibri" pitchFamily="34" charset="-122"/>
                <a:cs typeface="Calibri" pitchFamily="34" charset="-120"/>
              </a:rPr>
              <a:t>sets how load splits: Case 1 (offset) = 0.21/0.39/0.40, Case 2 (centered) = 0.30/0.30/0.40.</a:t>
            </a:r>
            <a:endParaRPr lang="en-US" sz="1250" dirty="0"/>
          </a:p>
        </p:txBody>
      </p:sp>
      <p:sp>
        <p:nvSpPr>
          <p:cNvPr id="8" name="Text 6"/>
          <p:cNvSpPr/>
          <p:nvPr/>
        </p:nvSpPr>
        <p:spPr>
          <a:xfrm>
            <a:off x="457200" y="434340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I chose</a:t>
            </a:r>
            <a:endParaRPr lang="en-US" sz="1100" dirty="0"/>
          </a:p>
        </p:txBody>
      </p:sp>
      <p:sp>
        <p:nvSpPr>
          <p:cNvPr id="9" name="Text 7"/>
          <p:cNvSpPr/>
          <p:nvPr/>
        </p:nvSpPr>
        <p:spPr>
          <a:xfrm>
            <a:off x="457200" y="4709160"/>
            <a:ext cx="685800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I went Case 2 (centered bogie pivot). Splitting the load evenly between the front and middle wheels means less chance one spins out on loose dirt. Either way the rear wheel carries 40%, which told me the rocker arm is the part I'd need to stress-test hardest.</a:t>
            </a:r>
            <a:endParaRPr lang="en-US" sz="1250" dirty="0"/>
          </a:p>
        </p:txBody>
      </p:sp>
      <p:sp>
        <p:nvSpPr>
          <p:cNvPr id="10" name="Shape 8"/>
          <p:cNvSpPr/>
          <p:nvPr/>
        </p:nvSpPr>
        <p:spPr>
          <a:xfrm>
            <a:off x="457200" y="5760720"/>
            <a:ext cx="6858000" cy="1280160"/>
          </a:xfrm>
          <a:prstGeom prst="rect">
            <a:avLst/>
          </a:prstGeom>
          <a:solidFill>
            <a:srgbClr val="D9E6D4"/>
          </a:solidFill>
          <a:ln w="6350">
            <a:solidFill>
              <a:srgbClr val="AAAAAA"/>
            </a:solidFill>
            <a:prstDash val="solid"/>
          </a:ln>
        </p:spPr>
        <p:txBody>
          <a:bodyPr/>
          <a:lstStyle/>
          <a:p>
            <a:endParaRPr lang="es-CO"/>
          </a:p>
        </p:txBody>
      </p:sp>
      <p:sp>
        <p:nvSpPr>
          <p:cNvPr id="11" name="Text 9"/>
          <p:cNvSpPr/>
          <p:nvPr/>
        </p:nvSpPr>
        <p:spPr>
          <a:xfrm>
            <a:off x="548640" y="5833872"/>
            <a:ext cx="6675120" cy="113385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The formulas I pulled from Verma
</a:t>
            </a:r>
            <a:r>
              <a:rPr lang="en-US" sz="900" dirty="0">
                <a:solidFill>
                  <a:srgbClr val="1A1A1A"/>
                </a:solidFill>
                <a:latin typeface="Calibri" pitchFamily="34" charset="0"/>
                <a:ea typeface="Calibri" pitchFamily="34" charset="-122"/>
                <a:cs typeface="Calibri" pitchFamily="34" charset="-120"/>
              </a:rPr>
              <a:t>V = pi*D*N/60 (wheel speed) . L = reach/cos(theta) (arm length) . h = reach*tan(theta) (arm height). They used 45deg for climbing stairs; I used gentler 10-15deg since I'm on open ground. Their rule that the differential bar = chassis width is where my axle span came from.</a:t>
            </a:r>
            <a:endParaRPr lang="en-US" sz="1000" dirty="0"/>
          </a:p>
        </p:txBody>
      </p:sp>
      <p:sp>
        <p:nvSpPr>
          <p:cNvPr id="14"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5"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6"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7"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8"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Running the geometry</a:t>
            </a:r>
            <a:endParaRPr lang="en-US" sz="1800" dirty="0"/>
          </a:p>
        </p:txBody>
      </p:sp>
      <p:sp>
        <p:nvSpPr>
          <p:cNvPr id="4" name="Text 2"/>
          <p:cNvSpPr/>
          <p:nvPr/>
        </p:nvSpPr>
        <p:spPr>
          <a:xfrm>
            <a:off x="457200" y="10972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Wheel speed</a:t>
            </a:r>
            <a:endParaRPr lang="en-US" sz="1100" dirty="0"/>
          </a:p>
        </p:txBody>
      </p:sp>
      <p:sp>
        <p:nvSpPr>
          <p:cNvPr id="5" name="Text 3"/>
          <p:cNvSpPr/>
          <p:nvPr/>
        </p:nvSpPr>
        <p:spPr>
          <a:xfrm>
            <a:off x="548640" y="1417320"/>
            <a:ext cx="6675120" cy="320040"/>
          </a:xfrm>
          <a:prstGeom prst="rect">
            <a:avLst/>
          </a:prstGeom>
          <a:noFill/>
          <a:ln/>
        </p:spPr>
        <p:txBody>
          <a:bodyPr wrap="square" rtlCol="0" anchor="ctr"/>
          <a:lstStyle/>
          <a:p>
            <a:pPr marL="0" indent="0">
              <a:buNone/>
            </a:pPr>
            <a:r>
              <a:rPr lang="en-US" sz="1250" i="1" dirty="0">
                <a:solidFill>
                  <a:srgbClr val="1A1A1A"/>
                </a:solidFill>
                <a:latin typeface="Courier New" pitchFamily="34" charset="0"/>
                <a:ea typeface="Courier New" pitchFamily="34" charset="-122"/>
                <a:cs typeface="Courier New" pitchFamily="34" charset="-120"/>
              </a:rPr>
              <a:t>N = 60*V / (pi*D) = 60 x 150 / (pi x 200) = 14.32 rpm</a:t>
            </a:r>
            <a:endParaRPr lang="en-US" sz="1250" dirty="0"/>
          </a:p>
        </p:txBody>
      </p:sp>
      <p:sp>
        <p:nvSpPr>
          <p:cNvPr id="6" name="Text 4"/>
          <p:cNvSpPr/>
          <p:nvPr/>
        </p:nvSpPr>
        <p:spPr>
          <a:xfrm>
            <a:off x="548640" y="1783080"/>
            <a:ext cx="6675120" cy="320040"/>
          </a:xfrm>
          <a:prstGeom prst="rect">
            <a:avLst/>
          </a:prstGeom>
          <a:noFill/>
          <a:ln/>
        </p:spPr>
        <p:txBody>
          <a:bodyPr wrap="square" rtlCol="0" anchor="ctr"/>
          <a:lstStyle/>
          <a:p>
            <a:pPr marL="0" indent="0">
              <a:buNone/>
            </a:pPr>
            <a:r>
              <a:rPr lang="en-US" sz="1150" dirty="0">
                <a:solidFill>
                  <a:srgbClr val="666666"/>
                </a:solidFill>
                <a:latin typeface="Calibri" pitchFamily="34" charset="0"/>
                <a:ea typeface="Calibri" pitchFamily="34" charset="-122"/>
                <a:cs typeface="Calibri" pitchFamily="34" charset="-120"/>
              </a:rPr>
              <a:t>So I need ~14.3 rpm at the wheel. Easy for the JGB37 motors - I just regulate down with PWM.</a:t>
            </a:r>
            <a:endParaRPr lang="en-US" sz="1150" dirty="0"/>
          </a:p>
        </p:txBody>
      </p:sp>
      <p:sp>
        <p:nvSpPr>
          <p:cNvPr id="7" name="Text 5"/>
          <p:cNvSpPr/>
          <p:nvPr/>
        </p:nvSpPr>
        <p:spPr>
          <a:xfrm>
            <a:off x="457200" y="2240280"/>
            <a:ext cx="1828800" cy="274320"/>
          </a:xfrm>
          <a:prstGeom prst="rect">
            <a:avLst/>
          </a:prstGeom>
          <a:solidFill>
            <a:srgbClr val="DCE6F2"/>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Where the wheels sit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4206240" cy="1865376"/>
        </p:xfrm>
        <a:graphic>
          <a:graphicData uri="http://schemas.openxmlformats.org/drawingml/2006/table">
            <a:tbl>
              <a:tblPr/>
              <a:tblGrid>
                <a:gridCol w="1554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10896">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Point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X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Front W1</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reference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Middle W2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430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same load as front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Rear W3</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end of wheelbase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Bogie pivot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215</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centered W1-W2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Chassis pivot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615</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rocker meets chassis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4846320" y="2606040"/>
            <a:ext cx="2468880" cy="1874520"/>
          </a:xfrm>
          <a:prstGeom prst="rect">
            <a:avLst/>
          </a:prstGeom>
          <a:solidFill>
            <a:srgbClr val="F4F4F0"/>
          </a:solidFill>
          <a:ln w="12700">
            <a:solidFill>
              <a:srgbClr val="999999"/>
            </a:solidFill>
            <a:prstDash val="dash"/>
          </a:ln>
        </p:spPr>
        <p:txBody>
          <a:bodyPr/>
          <a:lstStyle/>
          <a:p>
            <a:endParaRPr lang="es-CO"/>
          </a:p>
        </p:txBody>
      </p:sp>
      <p:sp>
        <p:nvSpPr>
          <p:cNvPr id="11" name="Text 8"/>
          <p:cNvSpPr/>
          <p:nvPr/>
        </p:nvSpPr>
        <p:spPr>
          <a:xfrm>
            <a:off x="457200" y="470916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Arms &amp; angles</a:t>
            </a:r>
            <a:endParaRPr lang="en-US" sz="1100" dirty="0"/>
          </a:p>
        </p:txBody>
      </p:sp>
      <p:sp>
        <p:nvSpPr>
          <p:cNvPr id="12" name="Text 9"/>
          <p:cNvSpPr/>
          <p:nvPr/>
        </p:nvSpPr>
        <p:spPr>
          <a:xfrm>
            <a:off x="548640" y="5074920"/>
            <a:ext cx="6675120" cy="1005840"/>
          </a:xfrm>
          <a:prstGeom prst="rect">
            <a:avLst/>
          </a:prstGeom>
          <a:noFill/>
          <a:ln/>
        </p:spPr>
        <p:txBody>
          <a:bodyPr wrap="square" rtlCol="0" anchor="t"/>
          <a:lstStyle/>
          <a:p>
            <a:pPr marL="0" indent="0">
              <a:lnSpc>
                <a:spcPct val="112000"/>
              </a:lnSpc>
              <a:buNone/>
            </a:pPr>
            <a:r>
              <a:rPr lang="en-US" sz="1200" b="1" dirty="0">
                <a:solidFill>
                  <a:srgbClr val="1A1A1A"/>
                </a:solidFill>
                <a:latin typeface="Calibri" pitchFamily="34" charset="0"/>
                <a:ea typeface="Calibri" pitchFamily="34" charset="-122"/>
                <a:cs typeface="Calibri" pitchFamily="34" charset="-120"/>
              </a:rPr>
              <a:t>Bogie (theta=15deg): </a:t>
            </a:r>
            <a:r>
              <a:rPr lang="en-US" sz="1200" dirty="0">
                <a:solidFill>
                  <a:srgbClr val="1A1A1A"/>
                </a:solidFill>
                <a:latin typeface="Calibri" pitchFamily="34" charset="0"/>
                <a:ea typeface="Calibri" pitchFamily="34" charset="-122"/>
                <a:cs typeface="Calibri" pitchFamily="34" charset="-120"/>
              </a:rPr>
              <a:t>L = 215/cos15 = 223 mm, h = 57.6 mm -&gt; Joint B at 150deg
</a:t>
            </a:r>
            <a:r>
              <a:rPr lang="en-US" sz="1200" b="1" dirty="0">
                <a:solidFill>
                  <a:srgbClr val="1A1A1A"/>
                </a:solidFill>
                <a:latin typeface="Calibri" pitchFamily="34" charset="0"/>
                <a:ea typeface="Calibri" pitchFamily="34" charset="-122"/>
                <a:cs typeface="Calibri" pitchFamily="34" charset="-120"/>
              </a:rPr>
              <a:t>Rocker (theta=10deg): </a:t>
            </a:r>
            <a:r>
              <a:rPr lang="en-US" sz="1200" dirty="0">
                <a:solidFill>
                  <a:srgbClr val="1A1A1A"/>
                </a:solidFill>
                <a:latin typeface="Calibri" pitchFamily="34" charset="0"/>
                <a:ea typeface="Calibri" pitchFamily="34" charset="-122"/>
                <a:cs typeface="Calibri" pitchFamily="34" charset="-120"/>
              </a:rPr>
              <a:t>Seg-A 401, Seg-B 396 (~800 total) -&gt; Joint A at 160deg</a:t>
            </a:r>
            <a:endParaRPr lang="en-US" sz="1200" dirty="0"/>
          </a:p>
        </p:txBody>
      </p:sp>
      <p:sp>
        <p:nvSpPr>
          <p:cNvPr id="13" name="Shape 10"/>
          <p:cNvSpPr/>
          <p:nvPr/>
        </p:nvSpPr>
        <p:spPr>
          <a:xfrm>
            <a:off x="457200" y="6126480"/>
            <a:ext cx="6858000" cy="1005840"/>
          </a:xfrm>
          <a:prstGeom prst="rect">
            <a:avLst/>
          </a:prstGeom>
          <a:solidFill>
            <a:srgbClr val="FCEFA6"/>
          </a:solidFill>
          <a:ln w="6350">
            <a:solidFill>
              <a:srgbClr val="AAAAAA"/>
            </a:solidFill>
            <a:prstDash val="solid"/>
          </a:ln>
        </p:spPr>
        <p:txBody>
          <a:bodyPr/>
          <a:lstStyle/>
          <a:p>
            <a:endParaRPr lang="es-CO"/>
          </a:p>
        </p:txBody>
      </p:sp>
      <p:sp>
        <p:nvSpPr>
          <p:cNvPr id="14" name="Text 11"/>
          <p:cNvSpPr/>
          <p:nvPr/>
        </p:nvSpPr>
        <p:spPr>
          <a:xfrm>
            <a:off x="548640" y="6199632"/>
            <a:ext cx="6675120" cy="85953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Cut lengths aren't the same as center-to-center
</a:t>
            </a:r>
            <a:r>
              <a:rPr lang="en-US" sz="900" dirty="0">
                <a:solidFill>
                  <a:srgbClr val="1A1A1A"/>
                </a:solidFill>
                <a:latin typeface="Calibri" pitchFamily="34" charset="0"/>
                <a:ea typeface="Calibri" pitchFamily="34" charset="-122"/>
                <a:cs typeface="Calibri" pitchFamily="34" charset="-120"/>
              </a:rPr>
              <a:t>The lengths above are geometry. When I actually cut tube I subtract what slides into each printed joint: Seg-A 345, Seg-B 366, bogie 202 (Joint A eats 26, chassis fitting 30, Joint B 21).</a:t>
            </a:r>
            <a:endParaRPr lang="en-US" sz="1000" dirty="0"/>
          </a:p>
        </p:txBody>
      </p:sp>
      <p:sp>
        <p:nvSpPr>
          <p:cNvPr id="15" name="Shape 12"/>
          <p:cNvSpPr/>
          <p:nvPr/>
        </p:nvSpPr>
        <p:spPr>
          <a:xfrm>
            <a:off x="457200" y="7269480"/>
            <a:ext cx="6858000" cy="1965960"/>
          </a:xfrm>
          <a:prstGeom prst="rect">
            <a:avLst/>
          </a:prstGeom>
          <a:solidFill>
            <a:srgbClr val="F4F4F0"/>
          </a:solidFill>
          <a:ln w="12700">
            <a:solidFill>
              <a:srgbClr val="999999"/>
            </a:solidFill>
            <a:prstDash val="dash"/>
          </a:ln>
        </p:spPr>
        <p:txBody>
          <a:bodyPr/>
          <a:lstStyle/>
          <a:p>
            <a:endParaRPr lang="es-CO"/>
          </a:p>
        </p:txBody>
      </p:sp>
      <p:sp>
        <p:nvSpPr>
          <p:cNvPr id="17" name="Shape 14"/>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8" name="Text 15"/>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9" name="Text 16"/>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20" name="Text 17"/>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21" name="Text 18"/>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6</a:t>
            </a:r>
            <a:endParaRPr lang="en-US" sz="900" dirty="0"/>
          </a:p>
        </p:txBody>
      </p:sp>
      <p:pic>
        <p:nvPicPr>
          <p:cNvPr id="23" name="Imagen 22">
            <a:extLst>
              <a:ext uri="{FF2B5EF4-FFF2-40B4-BE49-F238E27FC236}">
                <a16:creationId xmlns:a16="http://schemas.microsoft.com/office/drawing/2014/main" id="{D8680344-AB4D-812B-610A-1FE22BA92EB2}"/>
              </a:ext>
            </a:extLst>
          </p:cNvPr>
          <p:cNvPicPr>
            <a:picLocks noChangeAspect="1"/>
          </p:cNvPicPr>
          <p:nvPr/>
        </p:nvPicPr>
        <p:blipFill>
          <a:blip r:embed="rId3"/>
          <a:stretch>
            <a:fillRect/>
          </a:stretch>
        </p:blipFill>
        <p:spPr>
          <a:xfrm>
            <a:off x="4846205" y="2572210"/>
            <a:ext cx="2468995" cy="19159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Loads &amp; how high it can climb</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Loads at 30 kg</a:t>
            </a:r>
            <a:endParaRPr lang="en-US" sz="1100" dirty="0"/>
          </a:p>
        </p:txBody>
      </p:sp>
      <p:sp>
        <p:nvSpPr>
          <p:cNvPr id="5" name="Text 3"/>
          <p:cNvSpPr/>
          <p:nvPr/>
        </p:nvSpPr>
        <p:spPr>
          <a:xfrm>
            <a:off x="548640" y="1463040"/>
            <a:ext cx="6675120" cy="914400"/>
          </a:xfrm>
          <a:prstGeom prst="rect">
            <a:avLst/>
          </a:prstGeom>
          <a:noFill/>
          <a:ln/>
        </p:spPr>
        <p:txBody>
          <a:bodyPr wrap="square" rtlCol="0" anchor="t"/>
          <a:lstStyle/>
          <a:p>
            <a:pPr marL="0" indent="0">
              <a:lnSpc>
                <a:spcPct val="120000"/>
              </a:lnSpc>
              <a:buNone/>
            </a:pPr>
            <a:r>
              <a:rPr lang="en-US" sz="1250" dirty="0">
                <a:solidFill>
                  <a:srgbClr val="1A1A1A"/>
                </a:solidFill>
                <a:latin typeface="Courier New" pitchFamily="34" charset="0"/>
                <a:ea typeface="Courier New" pitchFamily="34" charset="-122"/>
                <a:cs typeface="Courier New" pitchFamily="34" charset="-120"/>
              </a:rPr>
              <a:t>W = m*g = 30 x 9.81 = 294.3 N
R3 (rear) = 0.40*W = 117.7 N   &lt;- the heavy one
R1 = R2 = 0.30*W = 88.3 N</a:t>
            </a:r>
            <a:endParaRPr lang="en-US" sz="1250" dirty="0"/>
          </a:p>
        </p:txBody>
      </p:sp>
      <p:sp>
        <p:nvSpPr>
          <p:cNvPr id="6" name="Text 4"/>
          <p:cNvSpPr/>
          <p:nvPr/>
        </p:nvSpPr>
        <p:spPr>
          <a:xfrm>
            <a:off x="457200" y="2514600"/>
            <a:ext cx="6858000" cy="64008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With a x2 dynamic factor for terrain shocks, the rocker sees ~235 N and the bogie ~177 N. Those are the numbers I'll feed the FEA (page 14).</a:t>
            </a:r>
            <a:endParaRPr lang="en-US" sz="1250" dirty="0"/>
          </a:p>
        </p:txBody>
      </p:sp>
      <p:sp>
        <p:nvSpPr>
          <p:cNvPr id="7" name="Text 5"/>
          <p:cNvSpPr/>
          <p:nvPr/>
        </p:nvSpPr>
        <p:spPr>
          <a:xfrm>
            <a:off x="457200" y="3200400"/>
            <a:ext cx="1828800" cy="274320"/>
          </a:xfrm>
          <a:prstGeom prst="rect">
            <a:avLst/>
          </a:prstGeom>
          <a:solidFill>
            <a:srgbClr val="DCE6F2"/>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How high it climbs</a:t>
            </a:r>
            <a:endParaRPr lang="en-US" sz="1100" dirty="0"/>
          </a:p>
        </p:txBody>
      </p:sp>
      <p:sp>
        <p:nvSpPr>
          <p:cNvPr id="8" name="Text 6"/>
          <p:cNvSpPr/>
          <p:nvPr/>
        </p:nvSpPr>
        <p:spPr>
          <a:xfrm>
            <a:off x="548640" y="3566160"/>
            <a:ext cx="667512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My target is 300 mm = 1.5 x wheel D. The theoretical max for rocker-bogie is 2 x D = 400 mm. So I'm at 75% of the ceiling - a comfy 1.33 margin. I'll take it.</a:t>
            </a:r>
            <a:endParaRPr lang="en-US" sz="1250" dirty="0"/>
          </a:p>
        </p:txBody>
      </p:sp>
      <p:sp>
        <p:nvSpPr>
          <p:cNvPr id="9" name="Text 7"/>
          <p:cNvSpPr/>
          <p:nvPr/>
        </p:nvSpPr>
        <p:spPr>
          <a:xfrm>
            <a:off x="457200" y="457200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Ground clearance</a:t>
            </a:r>
            <a:endParaRPr lang="en-US" sz="1100" dirty="0"/>
          </a:p>
        </p:txBody>
      </p:sp>
      <p:sp>
        <p:nvSpPr>
          <p:cNvPr id="10" name="Text 8"/>
          <p:cNvSpPr/>
          <p:nvPr/>
        </p:nvSpPr>
        <p:spPr>
          <a:xfrm>
            <a:off x="457200" y="4937760"/>
            <a:ext cx="685800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Base clearance is h_bogie + R ~ 158 mm. But my wheel mounts drop the wheels 90 mm, which lifts the chassis, so real clearance ends up ~248 mm. More clearance for obstacles, slightly higher CG - fine for terrain without crazy side slopes.</a:t>
            </a:r>
            <a:endParaRPr lang="en-US" sz="1250" dirty="0"/>
          </a:p>
        </p:txBody>
      </p:sp>
      <p:sp>
        <p:nvSpPr>
          <p:cNvPr id="11" name="Shape 9"/>
          <p:cNvSpPr/>
          <p:nvPr/>
        </p:nvSpPr>
        <p:spPr>
          <a:xfrm>
            <a:off x="457200" y="5943600"/>
            <a:ext cx="6858000" cy="1097280"/>
          </a:xfrm>
          <a:prstGeom prst="rect">
            <a:avLst/>
          </a:prstGeom>
          <a:solidFill>
            <a:srgbClr val="FCEFA6"/>
          </a:solidFill>
          <a:ln w="6350">
            <a:solidFill>
              <a:srgbClr val="AAAAAA"/>
            </a:solidFill>
            <a:prstDash val="solid"/>
          </a:ln>
        </p:spPr>
        <p:txBody>
          <a:bodyPr/>
          <a:lstStyle/>
          <a:p>
            <a:endParaRPr lang="es-CO"/>
          </a:p>
        </p:txBody>
      </p:sp>
      <p:sp>
        <p:nvSpPr>
          <p:cNvPr id="12" name="Text 10"/>
          <p:cNvSpPr/>
          <p:nvPr/>
        </p:nvSpPr>
        <p:spPr>
          <a:xfrm>
            <a:off x="548640" y="6016752"/>
            <a:ext cx="6675120" cy="95097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A note to myself on the load split
</a:t>
            </a:r>
            <a:r>
              <a:rPr lang="en-US" sz="900" dirty="0">
                <a:solidFill>
                  <a:srgbClr val="1A1A1A"/>
                </a:solidFill>
                <a:latin typeface="Calibri" pitchFamily="34" charset="0"/>
                <a:ea typeface="Calibri" pitchFamily="34" charset="-122"/>
                <a:cs typeface="Calibri" pitchFamily="34" charset="-120"/>
              </a:rPr>
              <a:t>The 0.30/0.30/0.40 numbers sum to 1.0 over a 3-wheel train. For the FEA I'm treating them as a worst-case load dumped on one wheel, not an average - better to over-build than find out the hard way.</a:t>
            </a:r>
            <a:endParaRPr lang="en-US" sz="1000" dirty="0"/>
          </a:p>
        </p:txBody>
      </p:sp>
      <p:sp>
        <p:nvSpPr>
          <p:cNvPr id="15" name="Shape 13"/>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6" name="Text 14"/>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7" name="Text 15"/>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8" name="Text 16"/>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9" name="Text 17"/>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Going round tube + printed joints</a:t>
            </a:r>
            <a:endParaRPr lang="en-US" sz="1800" dirty="0"/>
          </a:p>
        </p:txBody>
      </p:sp>
      <p:sp>
        <p:nvSpPr>
          <p:cNvPr id="4" name="Text 2"/>
          <p:cNvSpPr/>
          <p:nvPr/>
        </p:nvSpPr>
        <p:spPr>
          <a:xfrm>
            <a:off x="457200" y="10972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The switch</a:t>
            </a:r>
            <a:endParaRPr lang="en-US" sz="1100" dirty="0"/>
          </a:p>
        </p:txBody>
      </p:sp>
      <p:sp>
        <p:nvSpPr>
          <p:cNvPr id="5" name="Text 3"/>
          <p:cNvSpPr/>
          <p:nvPr/>
        </p:nvSpPr>
        <p:spPr>
          <a:xfrm>
            <a:off x="457200" y="1463040"/>
            <a:ext cx="6858000" cy="640080"/>
          </a:xfrm>
          <a:prstGeom prst="rect">
            <a:avLst/>
          </a:prstGeom>
          <a:noFill/>
          <a:ln/>
        </p:spPr>
        <p:txBody>
          <a:bodyPr wrap="square" rtlCol="0" anchor="t"/>
          <a:lstStyle/>
          <a:p>
            <a:pPr marL="0" indent="0">
              <a:lnSpc>
                <a:spcPct val="112000"/>
              </a:lnSpc>
              <a:buNone/>
            </a:pPr>
            <a:r>
              <a:rPr lang="en-US" sz="1300" dirty="0">
                <a:solidFill>
                  <a:srgbClr val="1A1A1A"/>
                </a:solidFill>
                <a:latin typeface="Calibri" pitchFamily="34" charset="0"/>
                <a:ea typeface="Calibri" pitchFamily="34" charset="-122"/>
                <a:cs typeface="Calibri" pitchFamily="34" charset="-120"/>
              </a:rPr>
              <a:t>I moved the arms from square tube to round aluminum tube, and made every intersection a 3D-printed PETG joint instead of bending tube or bolting plates. Round tube is easier to source and easier to bond into the joints.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4114800" cy="1316736"/>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Tube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Profile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Cut length</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Qty</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Rocker Seg-A</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D25 x 2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345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Rocker Seg-B</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D25 x 2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366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Bogie arm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D20 x 2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202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4754880" y="2286000"/>
            <a:ext cx="2560320" cy="1325880"/>
          </a:xfrm>
          <a:prstGeom prst="rect">
            <a:avLst/>
          </a:prstGeom>
          <a:solidFill>
            <a:srgbClr val="F4F4F0"/>
          </a:solidFill>
          <a:ln w="12700">
            <a:solidFill>
              <a:srgbClr val="999999"/>
            </a:solidFill>
            <a:prstDash val="dash"/>
          </a:ln>
        </p:spPr>
        <p:txBody>
          <a:bodyPr/>
          <a:lstStyle/>
          <a:p>
            <a:endParaRPr lang="es-CO"/>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3749040"/>
          <a:ext cx="4114800" cy="987552"/>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Joint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Sockets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Angle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Wall</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 (rocker)</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160deg</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5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 (bogie)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150deg</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5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Shape 6"/>
          <p:cNvSpPr/>
          <p:nvPr/>
        </p:nvSpPr>
        <p:spPr>
          <a:xfrm>
            <a:off x="457200" y="4937760"/>
            <a:ext cx="3291840" cy="1737360"/>
          </a:xfrm>
          <a:prstGeom prst="rect">
            <a:avLst/>
          </a:prstGeom>
          <a:solidFill>
            <a:srgbClr val="D9E6D4"/>
          </a:solidFill>
          <a:ln w="6350">
            <a:solidFill>
              <a:srgbClr val="AAAAAA"/>
            </a:solidFill>
            <a:prstDash val="solid"/>
          </a:ln>
        </p:spPr>
        <p:txBody>
          <a:bodyPr/>
          <a:lstStyle/>
          <a:p>
            <a:endParaRPr lang="es-CO"/>
          </a:p>
        </p:txBody>
      </p:sp>
      <p:sp>
        <p:nvSpPr>
          <p:cNvPr id="11" name="Text 7"/>
          <p:cNvSpPr/>
          <p:nvPr/>
        </p:nvSpPr>
        <p:spPr>
          <a:xfrm>
            <a:off x="548640" y="5010912"/>
            <a:ext cx="3108960" cy="159105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Why I like this
</a:t>
            </a:r>
            <a:r>
              <a:rPr lang="en-US" sz="900" dirty="0">
                <a:solidFill>
                  <a:srgbClr val="1A1A1A"/>
                </a:solidFill>
                <a:latin typeface="Calibri" pitchFamily="34" charset="0"/>
                <a:ea typeface="Calibri" pitchFamily="34" charset="-122"/>
                <a:cs typeface="Calibri" pitchFamily="34" charset="-120"/>
              </a:rPr>
              <a:t>The joints hold the angles, so I cut every tube dead straight at 90deg - no mitering, no bending jigs. I print them PETG, 5 perimeters, 60% infill, socket-up, no supports. Tubes press-fit and pin with 2x M5 each.</a:t>
            </a:r>
            <a:endParaRPr lang="en-US" sz="1000" dirty="0"/>
          </a:p>
        </p:txBody>
      </p:sp>
      <p:sp>
        <p:nvSpPr>
          <p:cNvPr id="12" name="Shape 8"/>
          <p:cNvSpPr/>
          <p:nvPr/>
        </p:nvSpPr>
        <p:spPr>
          <a:xfrm>
            <a:off x="4023360" y="4937760"/>
            <a:ext cx="3291840" cy="1737360"/>
          </a:xfrm>
          <a:prstGeom prst="rect">
            <a:avLst/>
          </a:prstGeom>
          <a:solidFill>
            <a:srgbClr val="DCE6F2"/>
          </a:solidFill>
          <a:ln w="6350">
            <a:solidFill>
              <a:srgbClr val="AAAAAA"/>
            </a:solidFill>
            <a:prstDash val="solid"/>
          </a:ln>
        </p:spPr>
        <p:txBody>
          <a:bodyPr/>
          <a:lstStyle/>
          <a:p>
            <a:endParaRPr lang="es-CO"/>
          </a:p>
        </p:txBody>
      </p:sp>
      <p:sp>
        <p:nvSpPr>
          <p:cNvPr id="13" name="Text 9"/>
          <p:cNvSpPr/>
          <p:nvPr/>
        </p:nvSpPr>
        <p:spPr>
          <a:xfrm>
            <a:off x="4114800" y="5010912"/>
            <a:ext cx="3108960" cy="159105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Bushing, not bearing
</a:t>
            </a:r>
            <a:r>
              <a:rPr lang="en-US" sz="900" dirty="0">
                <a:solidFill>
                  <a:srgbClr val="1A1A1A"/>
                </a:solidFill>
                <a:latin typeface="Calibri" pitchFamily="34" charset="0"/>
                <a:ea typeface="Calibri" pitchFamily="34" charset="-122"/>
                <a:cs typeface="Calibri" pitchFamily="34" charset="-120"/>
              </a:rPr>
              <a:t>The D12 axle rides through the boss on a printed plain bushing (greased), not a ball bearing - cheaper and fine for a passive axle. I keep the wall at 5 mm; any thinner and the M5 bolts rip out of the PETG.</a:t>
            </a:r>
            <a:endParaRPr lang="en-US" sz="1000" dirty="0"/>
          </a:p>
        </p:txBody>
      </p:sp>
      <p:sp>
        <p:nvSpPr>
          <p:cNvPr id="14" name="Shape 10"/>
          <p:cNvSpPr/>
          <p:nvPr/>
        </p:nvSpPr>
        <p:spPr>
          <a:xfrm>
            <a:off x="457200" y="6858000"/>
            <a:ext cx="6858000" cy="2377440"/>
          </a:xfrm>
          <a:prstGeom prst="rect">
            <a:avLst/>
          </a:prstGeom>
          <a:solidFill>
            <a:srgbClr val="F4F4F0"/>
          </a:solidFill>
          <a:ln w="12700">
            <a:solidFill>
              <a:srgbClr val="999999"/>
            </a:solidFill>
            <a:prstDash val="dash"/>
          </a:ln>
        </p:spPr>
        <p:txBody>
          <a:bodyPr/>
          <a:lstStyle/>
          <a:p>
            <a:endParaRPr lang="es-CO"/>
          </a:p>
        </p:txBody>
      </p:sp>
      <p:sp>
        <p:nvSpPr>
          <p:cNvPr id="16"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6"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8"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9"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20"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differential mess</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Where I went wrong</a:t>
            </a:r>
            <a:endParaRPr lang="en-US" sz="1100" dirty="0"/>
          </a:p>
        </p:txBody>
      </p:sp>
      <p:sp>
        <p:nvSpPr>
          <p:cNvPr id="5" name="Text 3"/>
          <p:cNvSpPr/>
          <p:nvPr/>
        </p:nvSpPr>
        <p:spPr>
          <a:xfrm>
            <a:off x="457200" y="1463040"/>
            <a:ext cx="6858000" cy="1097280"/>
          </a:xfrm>
          <a:prstGeom prst="rect">
            <a:avLst/>
          </a:prstGeom>
          <a:noFill/>
          <a:ln/>
        </p:spPr>
        <p:txBody>
          <a:bodyPr wrap="square" rtlCol="0" anchor="t"/>
          <a:lstStyle/>
          <a:p>
            <a:pPr marL="0" indent="0">
              <a:lnSpc>
                <a:spcPct val="112000"/>
              </a:lnSpc>
              <a:buNone/>
            </a:pPr>
            <a:r>
              <a:rPr lang="en-US" sz="1300" dirty="0">
                <a:solidFill>
                  <a:srgbClr val="1A1A1A"/>
                </a:solidFill>
                <a:latin typeface="Calibri" pitchFamily="34" charset="0"/>
                <a:ea typeface="Calibri" pitchFamily="34" charset="-122"/>
                <a:cs typeface="Calibri" pitchFamily="34" charset="-120"/>
              </a:rPr>
              <a:t>My first "differential" was just a rigid bar. Reading the JPL docs again, it hit me - that's not actually a differential. A rigid bar doesn't level the chassis; each side just does its own thing. A real one connects both rockers so when one climbs, the other drops and the body stays level. I'd been missing the whole point of the mechanism.</a:t>
            </a:r>
            <a:endParaRPr lang="en-US" sz="1300" dirty="0"/>
          </a:p>
        </p:txBody>
      </p:sp>
      <p:sp>
        <p:nvSpPr>
          <p:cNvPr id="6" name="Text 4"/>
          <p:cNvSpPr/>
          <p:nvPr/>
        </p:nvSpPr>
        <p:spPr>
          <a:xfrm>
            <a:off x="457200" y="26974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How NASA does it</a:t>
            </a:r>
            <a:endParaRPr lang="en-US" sz="1100" dirty="0"/>
          </a:p>
        </p:txBody>
      </p:sp>
      <p:sp>
        <p:nvSpPr>
          <p:cNvPr id="7" name="Text 5"/>
          <p:cNvSpPr/>
          <p:nvPr/>
        </p:nvSpPr>
        <p:spPr>
          <a:xfrm>
            <a:off x="457200" y="3063240"/>
            <a:ext cx="6858000" cy="128016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A central hub that rocks, two turnbuckles (threaded rods with ball-joint ends), and links to each rocker. Chain: rocker -&gt; turnbuckle -&gt; rocking hub -&gt; turnbuckle -&gt; other rocker. The Hackaday writeup literally calls this the crucial link that most DIY rovers skip because it's fiddly - and they lose capability for skipping it.</a:t>
            </a:r>
            <a:endParaRPr lang="en-US" sz="1250" dirty="0"/>
          </a:p>
        </p:txBody>
      </p:sp>
      <p:sp>
        <p:nvSpPr>
          <p:cNvPr id="8" name="Text 6"/>
          <p:cNvSpPr/>
          <p:nvPr/>
        </p:nvSpPr>
        <p:spPr>
          <a:xfrm>
            <a:off x="457200" y="448056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The thing I finally understood</a:t>
            </a:r>
            <a:endParaRPr lang="en-US" sz="1100" dirty="0"/>
          </a:p>
        </p:txBody>
      </p:sp>
      <p:sp>
        <p:nvSpPr>
          <p:cNvPr id="9" name="Text 7"/>
          <p:cNvSpPr/>
          <p:nvPr/>
        </p:nvSpPr>
        <p:spPr>
          <a:xfrm>
            <a:off x="457200" y="4846320"/>
            <a:ext cx="6858000" cy="1188720"/>
          </a:xfrm>
          <a:prstGeom prst="rect">
            <a:avLst/>
          </a:prstGeom>
          <a:noFill/>
          <a:ln/>
        </p:spPr>
        <p:txBody>
          <a:bodyPr wrap="square" rtlCol="0" anchor="t"/>
          <a:lstStyle/>
          <a:p>
            <a:pPr marL="0" indent="0">
              <a:lnSpc>
                <a:spcPct val="112000"/>
              </a:lnSpc>
              <a:buNone/>
            </a:pPr>
            <a:r>
              <a:rPr lang="en-US" sz="1250" b="1" dirty="0">
                <a:solidFill>
                  <a:srgbClr val="1A1A1A"/>
                </a:solidFill>
                <a:latin typeface="Calibri" pitchFamily="34" charset="0"/>
                <a:ea typeface="Calibri" pitchFamily="34" charset="-122"/>
                <a:cs typeface="Calibri" pitchFamily="34" charset="-120"/>
              </a:rPr>
              <a:t>There are two separate things: </a:t>
            </a:r>
            <a:r>
              <a:rPr lang="en-US" sz="1250" dirty="0">
                <a:solidFill>
                  <a:srgbClr val="1A1A1A"/>
                </a:solidFill>
                <a:latin typeface="Calibri" pitchFamily="34" charset="0"/>
                <a:ea typeface="Calibri" pitchFamily="34" charset="-122"/>
                <a:cs typeface="Calibri" pitchFamily="34" charset="-120"/>
              </a:rPr>
              <a:t>the transverse D12 axle (just the pivot the rockers turn on) and the balancin + bieletas on top (the mechanism that actually levels the chassis). My earlier design only had the axle. I'd left out the leveling entirely.</a:t>
            </a:r>
            <a:endParaRPr lang="en-US" sz="1250" dirty="0"/>
          </a:p>
        </p:txBody>
      </p:sp>
      <p:sp>
        <p:nvSpPr>
          <p:cNvPr id="10" name="Shape 8"/>
          <p:cNvSpPr/>
          <p:nvPr/>
        </p:nvSpPr>
        <p:spPr>
          <a:xfrm>
            <a:off x="457200" y="6172200"/>
            <a:ext cx="6858000" cy="1188720"/>
          </a:xfrm>
          <a:prstGeom prst="rect">
            <a:avLst/>
          </a:prstGeom>
          <a:solidFill>
            <a:srgbClr val="D9E6D4"/>
          </a:solidFill>
          <a:ln w="6350">
            <a:solidFill>
              <a:srgbClr val="AAAAAA"/>
            </a:solidFill>
            <a:prstDash val="solid"/>
          </a:ln>
        </p:spPr>
        <p:txBody>
          <a:bodyPr/>
          <a:lstStyle/>
          <a:p>
            <a:endParaRPr lang="es-CO"/>
          </a:p>
        </p:txBody>
      </p:sp>
      <p:sp>
        <p:nvSpPr>
          <p:cNvPr id="11" name="Text 9"/>
          <p:cNvSpPr/>
          <p:nvPr/>
        </p:nvSpPr>
        <p:spPr>
          <a:xfrm>
            <a:off x="548640" y="6245352"/>
            <a:ext cx="6675120" cy="104241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Decision - build the real one
</a:t>
            </a:r>
            <a:r>
              <a:rPr lang="en-US" sz="900" dirty="0">
                <a:solidFill>
                  <a:srgbClr val="1A1A1A"/>
                </a:solidFill>
                <a:latin typeface="Calibri" pitchFamily="34" charset="0"/>
                <a:ea typeface="Calibri" pitchFamily="34" charset="-122"/>
                <a:cs typeface="Calibri" pitchFamily="34" charset="-120"/>
              </a:rPr>
              <a:t>For a competition rover where rough terrain is the whole point, real leveling is worth the extra parts. I went with a printed version of NASA's mechanism: a balancin that rocks, two bieletas down to clamps on the rockers. Got it moving right in the Fusion Motion Study.</a:t>
            </a:r>
            <a:endParaRPr lang="en-US" sz="1000" dirty="0"/>
          </a:p>
        </p:txBody>
      </p:sp>
      <p:sp>
        <p:nvSpPr>
          <p:cNvPr id="14"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5"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6"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7"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8"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Nailing the differential geometry</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6858000" cy="3566160"/>
        </p:xfrm>
        <a:graphic>
          <a:graphicData uri="http://schemas.openxmlformats.org/drawingml/2006/table">
            <a:tbl>
              <a:tblPr/>
              <a:tblGrid>
                <a:gridCol w="35661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What I settled on</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Balancin length</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360 mm total</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Balancin arm (center -&gt; bielle hole)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180 mm each side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Balancin pivot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D8 (M8), longitudinal axis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Clamp on rocker tube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one per rocker (2 total)</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Clamp offset from rocker axis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180 mm (= balancin arm)</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Clamp position from tube start</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170 mm along the tube</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Bieleta length</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~253 mm center-to-center</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Bieleta ends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ball joints on BOTH ends</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56616">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A1A1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457200" y="507492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The 1:1 rule I learned</a:t>
            </a:r>
            <a:endParaRPr lang="en-US" sz="1100" dirty="0"/>
          </a:p>
        </p:txBody>
      </p:sp>
      <p:sp>
        <p:nvSpPr>
          <p:cNvPr id="6" name="Text 3"/>
          <p:cNvSpPr/>
          <p:nvPr/>
        </p:nvSpPr>
        <p:spPr>
          <a:xfrm>
            <a:off x="457200" y="5440680"/>
            <a:ext cx="6858000" cy="777240"/>
          </a:xfrm>
          <a:prstGeom prst="rect">
            <a:avLst/>
          </a:prstGeom>
          <a:noFill/>
          <a:ln/>
        </p:spPr>
        <p:txBody>
          <a:bodyPr wrap="square" rtlCol="0" anchor="t"/>
          <a:lstStyle/>
          <a:p>
            <a:pPr marL="0" indent="0">
              <a:lnSpc>
                <a:spcPct val="112000"/>
              </a:lnSpc>
              <a:buNone/>
            </a:pPr>
            <a:r>
              <a:rPr lang="en-US" sz="1200" dirty="0">
                <a:solidFill>
                  <a:srgbClr val="1A1A1A"/>
                </a:solidFill>
                <a:latin typeface="Calibri" pitchFamily="34" charset="0"/>
                <a:ea typeface="Calibri" pitchFamily="34" charset="-122"/>
                <a:cs typeface="Calibri" pitchFamily="34" charset="-120"/>
              </a:rPr>
              <a:t>Balancin arm (180) has to equal the clamp offset (180). If they're not equal, one side moves more than the other and the leveling goes lopsided. The bieleta length doesn't touch the ratio - it just spans the gap. Took me a couple wrong guesses (I had it at 350 once) to get this.</a:t>
            </a:r>
            <a:endParaRPr lang="en-US" sz="1200" dirty="0"/>
          </a:p>
        </p:txBody>
      </p:sp>
      <p:sp>
        <p:nvSpPr>
          <p:cNvPr id="7" name="Shape 4"/>
          <p:cNvSpPr/>
          <p:nvPr/>
        </p:nvSpPr>
        <p:spPr>
          <a:xfrm>
            <a:off x="457200" y="6309360"/>
            <a:ext cx="3291840" cy="1371600"/>
          </a:xfrm>
          <a:prstGeom prst="rect">
            <a:avLst/>
          </a:prstGeom>
          <a:solidFill>
            <a:srgbClr val="DCE6F2"/>
          </a:solidFill>
          <a:ln w="6350">
            <a:solidFill>
              <a:srgbClr val="AAAAAA"/>
            </a:solidFill>
            <a:prstDash val="solid"/>
          </a:ln>
        </p:spPr>
        <p:txBody>
          <a:bodyPr/>
          <a:lstStyle/>
          <a:p>
            <a:endParaRPr lang="es-CO"/>
          </a:p>
        </p:txBody>
      </p:sp>
      <p:sp>
        <p:nvSpPr>
          <p:cNvPr id="8" name="Text 5"/>
          <p:cNvSpPr/>
          <p:nvPr/>
        </p:nvSpPr>
        <p:spPr>
          <a:xfrm>
            <a:off x="548640" y="6382512"/>
            <a:ext cx="3108960" cy="122529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Ball joints on both ends
</a:t>
            </a:r>
            <a:r>
              <a:rPr lang="en-US" sz="900" dirty="0">
                <a:solidFill>
                  <a:srgbClr val="1A1A1A"/>
                </a:solidFill>
                <a:latin typeface="Calibri" pitchFamily="34" charset="0"/>
                <a:ea typeface="Calibri" pitchFamily="34" charset="-122"/>
                <a:cs typeface="Calibri" pitchFamily="34" charset="-120"/>
              </a:rPr>
              <a:t>The balancin rocks in one plane, the rocker turns in another. Rigid ends bind it. Rod-end (Heim) joints on both ends of each bieleta soak up the angle - 4 rod-ends total.</a:t>
            </a:r>
            <a:endParaRPr lang="en-US" sz="1000" dirty="0"/>
          </a:p>
        </p:txBody>
      </p:sp>
      <p:sp>
        <p:nvSpPr>
          <p:cNvPr id="9" name="Shape 6"/>
          <p:cNvSpPr/>
          <p:nvPr/>
        </p:nvSpPr>
        <p:spPr>
          <a:xfrm>
            <a:off x="4023360" y="6309360"/>
            <a:ext cx="3291840" cy="1371600"/>
          </a:xfrm>
          <a:prstGeom prst="rect">
            <a:avLst/>
          </a:prstGeom>
          <a:solidFill>
            <a:srgbClr val="FCEFA6"/>
          </a:solidFill>
          <a:ln w="6350">
            <a:solidFill>
              <a:srgbClr val="AAAAAA"/>
            </a:solidFill>
            <a:prstDash val="solid"/>
          </a:ln>
        </p:spPr>
        <p:txBody>
          <a:bodyPr/>
          <a:lstStyle/>
          <a:p>
            <a:endParaRPr lang="es-CO"/>
          </a:p>
        </p:txBody>
      </p:sp>
      <p:sp>
        <p:nvSpPr>
          <p:cNvPr id="10" name="Text 7"/>
          <p:cNvSpPr/>
          <p:nvPr/>
        </p:nvSpPr>
        <p:spPr>
          <a:xfrm>
            <a:off x="4114800" y="6382512"/>
            <a:ext cx="3108960" cy="122529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Mounted on top
</a:t>
            </a:r>
            <a:r>
              <a:rPr lang="en-US" sz="900" dirty="0">
                <a:solidFill>
                  <a:srgbClr val="1A1A1A"/>
                </a:solidFill>
                <a:latin typeface="Calibri" pitchFamily="34" charset="0"/>
                <a:ea typeface="Calibri" pitchFamily="34" charset="-122"/>
                <a:cs typeface="Calibri" pitchFamily="34" charset="-120"/>
              </a:rPr>
              <a:t>The whole differential sits on top of the lid, outside the sealed body - only the D12 axle enters the box. That fixed the bieletas clipping the chassis edge; they now run outside the box.</a:t>
            </a:r>
            <a:endParaRPr lang="en-US" sz="1000" dirty="0"/>
          </a:p>
        </p:txBody>
      </p:sp>
      <p:sp>
        <p:nvSpPr>
          <p:cNvPr id="12" name="Text 9"/>
          <p:cNvSpPr/>
          <p:nvPr/>
        </p:nvSpPr>
        <p:spPr>
          <a:xfrm>
            <a:off x="548640" y="7818120"/>
            <a:ext cx="6675120" cy="1417320"/>
          </a:xfrm>
          <a:prstGeom prst="rect">
            <a:avLst/>
          </a:prstGeom>
          <a:noFill/>
          <a:ln/>
        </p:spPr>
        <p:txBody>
          <a:bodyPr wrap="square" rtlCol="0" anchor="ctr"/>
          <a:lstStyle/>
          <a:p>
            <a:pPr marL="0" indent="0" algn="ctr">
              <a:buNone/>
            </a:pPr>
            <a:endParaRPr lang="en-US" sz="1100" dirty="0"/>
          </a:p>
        </p:txBody>
      </p:sp>
      <p:sp>
        <p:nvSpPr>
          <p:cNvPr id="13" name="Shape 10"/>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4" name="Text 11"/>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5" name="Text 12"/>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6" name="Text 13"/>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7" name="Text 14"/>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10</a:t>
            </a:r>
            <a:endParaRPr lang="en-US" sz="900" dirty="0"/>
          </a:p>
        </p:txBody>
      </p:sp>
      <p:pic>
        <p:nvPicPr>
          <p:cNvPr id="19" name="Imagen 18">
            <a:extLst>
              <a:ext uri="{FF2B5EF4-FFF2-40B4-BE49-F238E27FC236}">
                <a16:creationId xmlns:a16="http://schemas.microsoft.com/office/drawing/2014/main" id="{1F536A46-ACC4-913F-197B-75A82C7CFF08}"/>
              </a:ext>
            </a:extLst>
          </p:cNvPr>
          <p:cNvPicPr>
            <a:picLocks noChangeAspect="1"/>
          </p:cNvPicPr>
          <p:nvPr/>
        </p:nvPicPr>
        <p:blipFill>
          <a:blip r:embed="rId3"/>
          <a:stretch>
            <a:fillRect/>
          </a:stretch>
        </p:blipFill>
        <p:spPr>
          <a:xfrm>
            <a:off x="1743075" y="7754112"/>
            <a:ext cx="4392930" cy="15402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Steering &amp; getting the wheels level</a:t>
            </a:r>
            <a:endParaRPr lang="en-US" sz="1800" dirty="0"/>
          </a:p>
        </p:txBody>
      </p:sp>
      <p:sp>
        <p:nvSpPr>
          <p:cNvPr id="4" name="Text 2"/>
          <p:cNvSpPr/>
          <p:nvPr/>
        </p:nvSpPr>
        <p:spPr>
          <a:xfrm>
            <a:off x="457200" y="10972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All the same mount</a:t>
            </a:r>
            <a:endParaRPr lang="en-US" sz="1100" dirty="0"/>
          </a:p>
        </p:txBody>
      </p:sp>
      <p:sp>
        <p:nvSpPr>
          <p:cNvPr id="5" name="Text 3"/>
          <p:cNvSpPr/>
          <p:nvPr/>
        </p:nvSpPr>
        <p:spPr>
          <a:xfrm>
            <a:off x="457200" y="1463040"/>
            <a:ext cx="6858000" cy="82296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I ended up using the same C-mount body for all 6 wheels. The only difference is the servo: the 4 corner wheels get an MG996R on top for steering (vertical axis), and the 2 middle wheels use the same mount with no servo - fixed.</a:t>
            </a:r>
            <a:endParaRPr lang="en-US" sz="1250" dirty="0"/>
          </a:p>
        </p:txBody>
      </p:sp>
      <p:sp>
        <p:nvSpPr>
          <p:cNvPr id="6" name="Text 4"/>
          <p:cNvSpPr/>
          <p:nvPr/>
        </p:nvSpPr>
        <p:spPr>
          <a:xfrm>
            <a:off x="457200" y="2377440"/>
            <a:ext cx="1828800" cy="274320"/>
          </a:xfrm>
          <a:prstGeom prst="rect">
            <a:avLst/>
          </a:prstGeom>
          <a:solidFill>
            <a:srgbClr val="DCE6F2"/>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Socket angles to keep wheels vertical</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4572000" cy="1316736"/>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Mount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Tube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Tilt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Rotate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Front (steered)</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Bogie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15deg</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-15 -&gt; 75</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Middle (fixed)</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Bogie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15deg</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-15 -&gt; 75</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Rear (steered)</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Rocker B</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10deg</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-10 -&gt; 80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457200" y="457200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Getting them level</a:t>
            </a:r>
            <a:endParaRPr lang="en-US" sz="1100" dirty="0"/>
          </a:p>
        </p:txBody>
      </p:sp>
      <p:sp>
        <p:nvSpPr>
          <p:cNvPr id="11" name="Text 8"/>
          <p:cNvSpPr/>
          <p:nvPr/>
        </p:nvSpPr>
        <p:spPr>
          <a:xfrm>
            <a:off x="457200" y="4937760"/>
            <a:ext cx="685800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All three mounts on a side share the same 90 mm drop (socket -&gt; wheel center). Same H on all three = wheels come out level on their own. 90 mm gives room for the servo above the corner wheels, and the middle mount just copies it even though it has no servo.</a:t>
            </a:r>
            <a:endParaRPr lang="en-US" sz="1250" dirty="0"/>
          </a:p>
        </p:txBody>
      </p:sp>
      <p:sp>
        <p:nvSpPr>
          <p:cNvPr id="7" name="Shape 9"/>
          <p:cNvSpPr/>
          <p:nvPr/>
        </p:nvSpPr>
        <p:spPr>
          <a:xfrm>
            <a:off x="457200" y="5943600"/>
            <a:ext cx="6858000" cy="1188720"/>
          </a:xfrm>
          <a:prstGeom prst="rect">
            <a:avLst/>
          </a:prstGeom>
          <a:solidFill>
            <a:srgbClr val="D9E6D4"/>
          </a:solidFill>
          <a:ln w="6350">
            <a:solidFill>
              <a:srgbClr val="AAAAAA"/>
            </a:solidFill>
            <a:prstDash val="solid"/>
          </a:ln>
        </p:spPr>
        <p:txBody>
          <a:bodyPr/>
          <a:lstStyle/>
          <a:p>
            <a:endParaRPr lang="es-CO"/>
          </a:p>
        </p:txBody>
      </p:sp>
      <p:sp>
        <p:nvSpPr>
          <p:cNvPr id="13" name="Text 10"/>
          <p:cNvSpPr/>
          <p:nvPr/>
        </p:nvSpPr>
        <p:spPr>
          <a:xfrm>
            <a:off x="548640" y="6016752"/>
            <a:ext cx="6675120" cy="104241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Shop trick
</a:t>
            </a:r>
            <a:r>
              <a:rPr lang="en-US" sz="900" dirty="0">
                <a:solidFill>
                  <a:srgbClr val="1A1A1A"/>
                </a:solidFill>
                <a:latin typeface="Calibri" pitchFamily="34" charset="0"/>
                <a:ea typeface="Calibri" pitchFamily="34" charset="-122"/>
                <a:cs typeface="Calibri" pitchFamily="34" charset="-120"/>
              </a:rPr>
              <a:t>Instead of measuring angles off the tube, I just orient each socket so the mount hangs plumb (checked with a level) when the rover sits flat. Then the servo axis is vertical automatically. I'll design the mounts with slotted holes so final leveling is a slide-and-tighten on a flat surface.</a:t>
            </a:r>
            <a:endParaRPr lang="en-US" sz="1000" dirty="0"/>
          </a:p>
        </p:txBody>
      </p:sp>
      <p:sp>
        <p:nvSpPr>
          <p:cNvPr id="16" name="Shape 13"/>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7" name="Text 14"/>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8" name="Text 15"/>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9" name="Text 16"/>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20" name="Text 17"/>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11</a:t>
            </a:r>
            <a:endParaRPr lang="en-US" sz="900" dirty="0"/>
          </a:p>
        </p:txBody>
      </p:sp>
      <p:pic>
        <p:nvPicPr>
          <p:cNvPr id="22" name="Imagen 21">
            <a:extLst>
              <a:ext uri="{FF2B5EF4-FFF2-40B4-BE49-F238E27FC236}">
                <a16:creationId xmlns:a16="http://schemas.microsoft.com/office/drawing/2014/main" id="{B63E306E-06AF-882B-3B33-9901092457C8}"/>
              </a:ext>
            </a:extLst>
          </p:cNvPr>
          <p:cNvPicPr>
            <a:picLocks noChangeAspect="1"/>
          </p:cNvPicPr>
          <p:nvPr/>
        </p:nvPicPr>
        <p:blipFill>
          <a:blip r:embed="rId3"/>
          <a:stretch>
            <a:fillRect/>
          </a:stretch>
        </p:blipFill>
        <p:spPr>
          <a:xfrm>
            <a:off x="5358222" y="2377440"/>
            <a:ext cx="1499778" cy="20728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Shrinking the chassis to 900x600</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I wanted</a:t>
            </a:r>
            <a:endParaRPr lang="en-US" sz="1100" dirty="0"/>
          </a:p>
        </p:txBody>
      </p:sp>
      <p:sp>
        <p:nvSpPr>
          <p:cNvPr id="5" name="Text 3"/>
          <p:cNvSpPr/>
          <p:nvPr/>
        </p:nvSpPr>
        <p:spPr>
          <a:xfrm>
            <a:off x="457200" y="1463040"/>
            <a:ext cx="685800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I wanted the body to tuck inside the wheels, like Curiosity, instead of the wheels sitting inside the body. The realization: this needs wheelbase &gt; chassis length. Moving the pivot alone can't do it - the pivot just slides the body forward/back, it can't change which one is bigger.</a:t>
            </a:r>
            <a:endParaRPr lang="en-US" sz="1250" dirty="0"/>
          </a:p>
        </p:txBody>
      </p:sp>
      <p:sp>
        <p:nvSpPr>
          <p:cNvPr id="6" name="Text 4"/>
          <p:cNvSpPr/>
          <p:nvPr/>
        </p:nvSpPr>
        <p:spPr>
          <a:xfrm>
            <a:off x="457200" y="24688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Two ways to do it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834640"/>
          <a:ext cx="6858000" cy="2029968"/>
        </p:xfrm>
        <a:graphic>
          <a:graphicData uri="http://schemas.openxmlformats.org/drawingml/2006/table">
            <a:tbl>
              <a:tblPr/>
              <a:tblGrid>
                <a:gridCol w="17373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38328">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Grow wheelbase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Shrink chassis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3832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I change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the suspension</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only the chassis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Wheelbase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1400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1000 (same)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Chassis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1200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900 mm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Rover size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bigger ~1500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compact ~1100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Recalc arms?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457200" y="521208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I picked</a:t>
            </a:r>
            <a:endParaRPr lang="en-US" sz="1100" dirty="0"/>
          </a:p>
        </p:txBody>
      </p:sp>
      <p:sp>
        <p:nvSpPr>
          <p:cNvPr id="9" name="Text 6"/>
          <p:cNvSpPr/>
          <p:nvPr/>
        </p:nvSpPr>
        <p:spPr>
          <a:xfrm>
            <a:off x="457200" y="5577840"/>
            <a:ext cx="6858000" cy="91440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Since 1200 mm turned out not to be a hard requirement, I shrank the chassis to 900 mm - it's the simpler move and doesn't touch the suspension. Now wheelbase (1000) &gt; chassis (900), so the wheels wrap the body by 50 mm each end. The differential pivot lands ~108 mm behind chassis center, which loads the rear a bit (helps climbing).</a:t>
            </a:r>
            <a:endParaRPr lang="en-US" sz="1250" dirty="0"/>
          </a:p>
        </p:txBody>
      </p:sp>
      <p:sp>
        <p:nvSpPr>
          <p:cNvPr id="10" name="Shape 7"/>
          <p:cNvSpPr/>
          <p:nvPr/>
        </p:nvSpPr>
        <p:spPr>
          <a:xfrm>
            <a:off x="457200" y="6583680"/>
            <a:ext cx="6858000" cy="777240"/>
          </a:xfrm>
          <a:prstGeom prst="rect">
            <a:avLst/>
          </a:prstGeom>
          <a:solidFill>
            <a:srgbClr val="DCE6F2"/>
          </a:solidFill>
          <a:ln w="6350">
            <a:solidFill>
              <a:srgbClr val="AAAAAA"/>
            </a:solidFill>
            <a:prstDash val="solid"/>
          </a:ln>
        </p:spPr>
        <p:txBody>
          <a:bodyPr/>
          <a:lstStyle/>
          <a:p>
            <a:endParaRPr lang="es-CO"/>
          </a:p>
        </p:txBody>
      </p:sp>
      <p:sp>
        <p:nvSpPr>
          <p:cNvPr id="11" name="Text 8"/>
          <p:cNvSpPr/>
          <p:nvPr/>
        </p:nvSpPr>
        <p:spPr>
          <a:xfrm>
            <a:off x="548640" y="6656832"/>
            <a:ext cx="6675120" cy="63093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What survived the change
</a:t>
            </a:r>
            <a:r>
              <a:rPr lang="en-US" sz="900" dirty="0">
                <a:solidFill>
                  <a:srgbClr val="1A1A1A"/>
                </a:solidFill>
                <a:latin typeface="Calibri" pitchFamily="34" charset="0"/>
                <a:ea typeface="Calibri" pitchFamily="34" charset="-122"/>
                <a:cs typeface="Calibri" pitchFamily="34" charset="-120"/>
              </a:rPr>
              <a:t>All the arm lengths, angles, joints, loads, and the axle span are tied to the wheelbase (unchanged), so they all held. Only the old wheelbase-from-chassis formula broke - now they're independent, which is the whole point.</a:t>
            </a:r>
            <a:endParaRPr lang="en-US" sz="1000" dirty="0"/>
          </a:p>
        </p:txBody>
      </p:sp>
      <p:sp>
        <p:nvSpPr>
          <p:cNvPr id="14" name="Shape 11"/>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5" name="Text 12"/>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6" name="Text 13"/>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7" name="Text 14"/>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8" name="Text 15"/>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Picking motors &amp; battery</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The speed problem</a:t>
            </a:r>
            <a:endParaRPr lang="en-US" sz="1100" dirty="0"/>
          </a:p>
        </p:txBody>
      </p:sp>
      <p:sp>
        <p:nvSpPr>
          <p:cNvPr id="5" name="Text 3"/>
          <p:cNvSpPr/>
          <p:nvPr/>
        </p:nvSpPr>
        <p:spPr>
          <a:xfrm>
            <a:off x="457200" y="1417320"/>
            <a:ext cx="6858000" cy="548640"/>
          </a:xfrm>
          <a:prstGeom prst="rect">
            <a:avLst/>
          </a:prstGeom>
          <a:noFill/>
          <a:ln/>
        </p:spPr>
        <p:txBody>
          <a:bodyPr wrap="square" rtlCol="0" anchor="t"/>
          <a:lstStyle/>
          <a:p>
            <a:pPr marL="0" indent="0">
              <a:lnSpc>
                <a:spcPct val="112000"/>
              </a:lnSpc>
              <a:buNone/>
            </a:pPr>
            <a:r>
              <a:rPr lang="en-US" sz="1200" dirty="0">
                <a:solidFill>
                  <a:srgbClr val="1A1A1A"/>
                </a:solidFill>
                <a:latin typeface="Calibri" pitchFamily="34" charset="0"/>
                <a:ea typeface="Calibri" pitchFamily="34" charset="-122"/>
                <a:cs typeface="Calibri" pitchFamily="34" charset="-120"/>
              </a:rPr>
              <a:t>A D200 wheel at 100 rpm is ~1050 mm/s - 7x too fast vs my 150 target. So I need low-rpm, high-torque motors and I regulate down with PWM.</a:t>
            </a:r>
            <a:endParaRPr lang="en-US" sz="1200" dirty="0"/>
          </a:p>
        </p:txBody>
      </p:sp>
      <p:sp>
        <p:nvSpPr>
          <p:cNvPr id="6" name="Text 4"/>
          <p:cNvSpPr/>
          <p:nvPr/>
        </p:nvSpPr>
        <p:spPr>
          <a:xfrm>
            <a:off x="457200" y="205740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Torque check at 30 kg</a:t>
            </a:r>
            <a:endParaRPr lang="en-US" sz="1100" dirty="0"/>
          </a:p>
        </p:txBody>
      </p:sp>
      <p:sp>
        <p:nvSpPr>
          <p:cNvPr id="7" name="Text 5"/>
          <p:cNvSpPr/>
          <p:nvPr/>
        </p:nvSpPr>
        <p:spPr>
          <a:xfrm>
            <a:off x="457200" y="2377440"/>
            <a:ext cx="6858000" cy="640080"/>
          </a:xfrm>
          <a:prstGeom prst="rect">
            <a:avLst/>
          </a:prstGeom>
          <a:noFill/>
          <a:ln/>
        </p:spPr>
        <p:txBody>
          <a:bodyPr wrap="square" rtlCol="0" anchor="t"/>
          <a:lstStyle/>
          <a:p>
            <a:pPr marL="0" indent="0">
              <a:lnSpc>
                <a:spcPct val="112000"/>
              </a:lnSpc>
              <a:buNone/>
            </a:pPr>
            <a:r>
              <a:rPr lang="en-US" sz="1200" dirty="0">
                <a:solidFill>
                  <a:srgbClr val="1A1A1A"/>
                </a:solidFill>
                <a:latin typeface="Calibri" pitchFamily="34" charset="0"/>
                <a:ea typeface="Calibri" pitchFamily="34" charset="-122"/>
                <a:cs typeface="Calibri" pitchFamily="34" charset="-120"/>
              </a:rPr>
              <a:t>~18-25 kg*cm/wheel for a 30deg slope (6 wheels), up to ~50 worst case (3 wheels gripping). I picked the JGB37 50RPM that does 40 kg*cm - good for normal terrain, tight for big obstacles.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6858000" cy="2194560"/>
        </p:xfrm>
        <a:graphic>
          <a:graphicData uri="http://schemas.openxmlformats.org/drawingml/2006/table">
            <a:tbl>
              <a:tblPr/>
              <a:tblGrid>
                <a:gridCol w="12801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6576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Choice</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Qty</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~COP</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Motor</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JGB37 12V 50RPM (40 kg*cm)</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$87,600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Driver</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BTS7960 43A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$25,000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Servo driver</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PCA9685</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$20,000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I+D/Big</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Servo</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MG996R</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$26,000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Bigtronica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Battery</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LiPo 8-10 Ah 12V</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varies</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457200" y="571500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Battery</a:t>
            </a:r>
            <a:endParaRPr lang="en-US" sz="1100" dirty="0"/>
          </a:p>
        </p:txBody>
      </p:sp>
      <p:sp>
        <p:nvSpPr>
          <p:cNvPr id="10" name="Text 7"/>
          <p:cNvSpPr/>
          <p:nvPr/>
        </p:nvSpPr>
        <p:spPr>
          <a:xfrm>
            <a:off x="457200" y="6035040"/>
            <a:ext cx="6858000" cy="640080"/>
          </a:xfrm>
          <a:prstGeom prst="rect">
            <a:avLst/>
          </a:prstGeom>
          <a:noFill/>
          <a:ln/>
        </p:spPr>
        <p:txBody>
          <a:bodyPr wrap="square" rtlCol="0" anchor="t"/>
          <a:lstStyle/>
          <a:p>
            <a:pPr marL="0" indent="0">
              <a:lnSpc>
                <a:spcPct val="112000"/>
              </a:lnSpc>
              <a:buNone/>
            </a:pPr>
            <a:r>
              <a:rPr lang="en-US" sz="1200" dirty="0">
                <a:solidFill>
                  <a:srgbClr val="1A1A1A"/>
                </a:solidFill>
                <a:latin typeface="Calibri" pitchFamily="34" charset="0"/>
                <a:ea typeface="Calibri" pitchFamily="34" charset="-122"/>
                <a:cs typeface="Calibri" pitchFamily="34" charset="-120"/>
              </a:rPr>
              <a:t>At 30 kg I pull ~12.5 A nominal, ~26 A peak when climbing. A LiPo handles those peaks easily and gives ~40 min at 8-10 Ah. I could do 2x SLA 12V 12Ah but they're heavy.</a:t>
            </a:r>
            <a:endParaRPr lang="en-US" sz="1200" dirty="0"/>
          </a:p>
        </p:txBody>
      </p:sp>
      <p:sp>
        <p:nvSpPr>
          <p:cNvPr id="11" name="Shape 8"/>
          <p:cNvSpPr/>
          <p:nvPr/>
        </p:nvSpPr>
        <p:spPr>
          <a:xfrm>
            <a:off x="457200" y="6766560"/>
            <a:ext cx="6858000" cy="868680"/>
          </a:xfrm>
          <a:prstGeom prst="rect">
            <a:avLst/>
          </a:prstGeom>
          <a:solidFill>
            <a:srgbClr val="FCEFA6"/>
          </a:solidFill>
          <a:ln w="6350">
            <a:solidFill>
              <a:srgbClr val="AAAAAA"/>
            </a:solidFill>
            <a:prstDash val="solid"/>
          </a:ln>
        </p:spPr>
        <p:txBody>
          <a:bodyPr/>
          <a:lstStyle/>
          <a:p>
            <a:endParaRPr lang="es-CO"/>
          </a:p>
        </p:txBody>
      </p:sp>
      <p:sp>
        <p:nvSpPr>
          <p:cNvPr id="12" name="Text 9"/>
          <p:cNvSpPr/>
          <p:nvPr/>
        </p:nvSpPr>
        <p:spPr>
          <a:xfrm>
            <a:off x="548640" y="6839712"/>
            <a:ext cx="6675120" cy="72237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still need to check - encoder
</a:t>
            </a:r>
            <a:r>
              <a:rPr lang="en-US" sz="900" dirty="0">
                <a:solidFill>
                  <a:srgbClr val="1A1A1A"/>
                </a:solidFill>
                <a:latin typeface="Calibri" pitchFamily="34" charset="0"/>
                <a:ea typeface="Calibri" pitchFamily="34" charset="-122"/>
                <a:cs typeface="Calibri" pitchFamily="34" charset="-120"/>
              </a:rPr>
              <a:t>The 40 kg*cm listing at I+D doesn't clearly say it has an encoder. For SLAM I need the encoder version (JGB37-520 Hall, 6 wires). I have to confirm at the store or source the encoder variant separately before I buy.</a:t>
            </a:r>
            <a:endParaRPr lang="en-US" sz="1000" dirty="0"/>
          </a:p>
        </p:txBody>
      </p:sp>
      <p:sp>
        <p:nvSpPr>
          <p:cNvPr id="13" name="Shape 10"/>
          <p:cNvSpPr/>
          <p:nvPr/>
        </p:nvSpPr>
        <p:spPr>
          <a:xfrm>
            <a:off x="457200" y="7772400"/>
            <a:ext cx="6858000" cy="1463040"/>
          </a:xfrm>
          <a:prstGeom prst="rect">
            <a:avLst/>
          </a:prstGeom>
          <a:solidFill>
            <a:srgbClr val="F4F4F0"/>
          </a:solidFill>
          <a:ln w="12700">
            <a:solidFill>
              <a:srgbClr val="999999"/>
            </a:solidFill>
            <a:prstDash val="dash"/>
          </a:ln>
        </p:spPr>
        <p:txBody>
          <a:bodyPr/>
          <a:lstStyle/>
          <a:p>
            <a:endParaRPr lang="es-CO"/>
          </a:p>
        </p:txBody>
      </p:sp>
      <p:sp>
        <p:nvSpPr>
          <p:cNvPr id="15"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6"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7"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8"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9"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My FEA plan (targets)</a:t>
            </a:r>
            <a:endParaRPr lang="en-US" sz="1800" dirty="0"/>
          </a:p>
        </p:txBody>
      </p:sp>
      <p:sp>
        <p:nvSpPr>
          <p:cNvPr id="4" name="Text 2"/>
          <p:cNvSpPr/>
          <p:nvPr/>
        </p:nvSpPr>
        <p:spPr>
          <a:xfrm>
            <a:off x="457200" y="1097280"/>
            <a:ext cx="6858000" cy="502920"/>
          </a:xfrm>
          <a:prstGeom prst="rect">
            <a:avLst/>
          </a:prstGeom>
          <a:noFill/>
          <a:ln/>
        </p:spPr>
        <p:txBody>
          <a:bodyPr wrap="square" rtlCol="0" anchor="t"/>
          <a:lstStyle/>
          <a:p>
            <a:pPr marL="0" indent="0">
              <a:lnSpc>
                <a:spcPct val="112000"/>
              </a:lnSpc>
              <a:buNone/>
            </a:pPr>
            <a:r>
              <a:rPr lang="en-US" sz="1200" i="1" dirty="0">
                <a:solidFill>
                  <a:srgbClr val="1A1A1A"/>
                </a:solidFill>
                <a:latin typeface="Calibri" pitchFamily="34" charset="0"/>
                <a:ea typeface="Calibri" pitchFamily="34" charset="-122"/>
                <a:cs typeface="Calibri" pitchFamily="34" charset="-120"/>
              </a:rPr>
              <a:t>I'll run Static Stress in Fusion on the parts that carry the most. These are the numbers the design SHOULD hit - I haven't solved it yet, so I'll swap in the real values once I run it.</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6858000" cy="2304288"/>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Part</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Load</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Target SF</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Peak stress</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Deflection</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Rocker (Al)</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235 N</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60-90 MPa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&lt;2 mm</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SF&gt;=2.5</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Bogie (Al)</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177 N</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40-60 MPa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&lt;1.5 mm</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SF&gt;=2.5</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Joint A (PETG)</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235 N</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2.5-4</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15-25 MPa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&lt;1 mm</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SF&gt;=2.0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Joint B (PETG)</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177 N</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10-20 MPa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&lt;1 mm</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SF&gt;=2.0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Axle D12 (steel)</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118 N/side</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80-140 MPa</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&lt;3 mm</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50" dirty="0">
                          <a:solidFill>
                            <a:srgbClr val="1A1A1A"/>
                          </a:solidFill>
                          <a:latin typeface="Calibri" pitchFamily="34" charset="0"/>
                          <a:ea typeface="Calibri" pitchFamily="34" charset="-122"/>
                          <a:cs typeface="Calibri" pitchFamily="34" charset="-120"/>
                        </a:rPr>
                        <a:t>SF&gt;=2.0</a:t>
                      </a:r>
                      <a:endParaRPr lang="en-US" sz="105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457200" y="4434840"/>
            <a:ext cx="1828800" cy="274320"/>
          </a:xfrm>
          <a:prstGeom prst="rect">
            <a:avLst/>
          </a:prstGeom>
          <a:solidFill>
            <a:srgbClr val="DCE6F2"/>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How I'll read it</a:t>
            </a:r>
            <a:endParaRPr lang="en-US" sz="1100" dirty="0"/>
          </a:p>
        </p:txBody>
      </p:sp>
      <p:sp>
        <p:nvSpPr>
          <p:cNvPr id="7" name="Text 4"/>
          <p:cNvSpPr/>
          <p:nvPr/>
        </p:nvSpPr>
        <p:spPr>
          <a:xfrm>
            <a:off x="457200" y="4800600"/>
            <a:ext cx="6858000" cy="1188720"/>
          </a:xfrm>
          <a:prstGeom prst="rect">
            <a:avLst/>
          </a:prstGeom>
          <a:noFill/>
          <a:ln/>
        </p:spPr>
        <p:txBody>
          <a:bodyPr wrap="square" rtlCol="0" anchor="t"/>
          <a:lstStyle/>
          <a:p>
            <a:pPr marL="0" indent="0">
              <a:lnSpc>
                <a:spcPct val="112000"/>
              </a:lnSpc>
              <a:buNone/>
            </a:pPr>
            <a:r>
              <a:rPr lang="en-US" sz="1250" b="1" dirty="0">
                <a:solidFill>
                  <a:srgbClr val="1A1A1A"/>
                </a:solidFill>
                <a:latin typeface="Calibri" pitchFamily="34" charset="0"/>
                <a:ea typeface="Calibri" pitchFamily="34" charset="-122"/>
                <a:cs typeface="Calibri" pitchFamily="34" charset="-120"/>
              </a:rPr>
              <a:t>Aluminum arms </a:t>
            </a:r>
            <a:r>
              <a:rPr lang="en-US" sz="1250" dirty="0">
                <a:solidFill>
                  <a:srgbClr val="1A1A1A"/>
                </a:solidFill>
                <a:latin typeface="Calibri" pitchFamily="34" charset="0"/>
                <a:ea typeface="Calibri" pitchFamily="34" charset="-122"/>
                <a:cs typeface="Calibri" pitchFamily="34" charset="-120"/>
              </a:rPr>
              <a:t>should be comfy (SF 3-5). If the rocker drops under 2.5 I'll step up to D28 tube.
</a:t>
            </a:r>
            <a:r>
              <a:rPr lang="en-US" sz="1250" b="1" dirty="0">
                <a:solidFill>
                  <a:srgbClr val="1A1A1A"/>
                </a:solidFill>
                <a:latin typeface="Calibri" pitchFamily="34" charset="0"/>
                <a:ea typeface="Calibri" pitchFamily="34" charset="-122"/>
                <a:cs typeface="Calibri" pitchFamily="34" charset="-120"/>
              </a:rPr>
              <a:t>PETG joints </a:t>
            </a:r>
            <a:r>
              <a:rPr lang="en-US" sz="1250" dirty="0">
                <a:solidFill>
                  <a:srgbClr val="1A1A1A"/>
                </a:solidFill>
                <a:latin typeface="Calibri" pitchFamily="34" charset="0"/>
                <a:ea typeface="Calibri" pitchFamily="34" charset="-122"/>
                <a:cs typeface="Calibri" pitchFamily="34" charset="-120"/>
              </a:rPr>
              <a:t>are the tight ones - I'll mesh finely at the socket roots.
</a:t>
            </a:r>
            <a:r>
              <a:rPr lang="en-US" sz="1250" b="1" dirty="0">
                <a:solidFill>
                  <a:srgbClr val="1A1A1A"/>
                </a:solidFill>
                <a:latin typeface="Calibri" pitchFamily="34" charset="0"/>
                <a:ea typeface="Calibri" pitchFamily="34" charset="-122"/>
                <a:cs typeface="Calibri" pitchFamily="34" charset="-120"/>
              </a:rPr>
              <a:t>The D12 axle </a:t>
            </a:r>
            <a:r>
              <a:rPr lang="en-US" sz="1250" dirty="0">
                <a:solidFill>
                  <a:srgbClr val="1A1A1A"/>
                </a:solidFill>
                <a:latin typeface="Calibri" pitchFamily="34" charset="0"/>
                <a:ea typeface="Calibri" pitchFamily="34" charset="-122"/>
                <a:cs typeface="Calibri" pitchFamily="34" charset="-120"/>
              </a:rPr>
              <a:t>is the one I'm watching - a 700 mm rod can flex. If deflection &gt; 3 mm I'll go D15 or add a center support.</a:t>
            </a:r>
            <a:endParaRPr lang="en-US" sz="1250" dirty="0"/>
          </a:p>
        </p:txBody>
      </p:sp>
      <p:sp>
        <p:nvSpPr>
          <p:cNvPr id="8" name="Shape 5"/>
          <p:cNvSpPr/>
          <p:nvPr/>
        </p:nvSpPr>
        <p:spPr>
          <a:xfrm>
            <a:off x="457200" y="6126480"/>
            <a:ext cx="6858000" cy="1188720"/>
          </a:xfrm>
          <a:prstGeom prst="rect">
            <a:avLst/>
          </a:prstGeom>
          <a:solidFill>
            <a:srgbClr val="D9E6D4"/>
          </a:solidFill>
          <a:ln w="6350">
            <a:solidFill>
              <a:srgbClr val="AAAAAA"/>
            </a:solidFill>
            <a:prstDash val="solid"/>
          </a:ln>
        </p:spPr>
        <p:txBody>
          <a:bodyPr/>
          <a:lstStyle/>
          <a:p>
            <a:endParaRPr lang="es-CO"/>
          </a:p>
        </p:txBody>
      </p:sp>
      <p:sp>
        <p:nvSpPr>
          <p:cNvPr id="9" name="Text 6"/>
          <p:cNvSpPr/>
          <p:nvPr/>
        </p:nvSpPr>
        <p:spPr>
          <a:xfrm>
            <a:off x="548640" y="6199632"/>
            <a:ext cx="6675120" cy="104241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Motion study comes first
</a:t>
            </a:r>
            <a:r>
              <a:rPr lang="en-US" sz="900" dirty="0">
                <a:solidFill>
                  <a:srgbClr val="1A1A1A"/>
                </a:solidFill>
                <a:latin typeface="Calibri" pitchFamily="34" charset="0"/>
                <a:ea typeface="Calibri" pitchFamily="34" charset="-122"/>
                <a:cs typeface="Calibri" pitchFamily="34" charset="-120"/>
              </a:rPr>
              <a:t>Before FEA I check the kinematics: the two rockers move in opposition, the bogie swings free, nothing collides. 11 revolute joints total. If the ball joints on the differential are set right the linkage transmits with no Motion Link - I already got that working.</a:t>
            </a:r>
            <a:endParaRPr lang="en-US" sz="1000" dirty="0"/>
          </a:p>
        </p:txBody>
      </p:sp>
      <p:sp>
        <p:nvSpPr>
          <p:cNvPr id="12" name="Shape 9"/>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3" name="Text 10"/>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4" name="Text 11"/>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5" name="Text 12"/>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6" name="Text 13"/>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Bill of materials</a:t>
            </a:r>
            <a:endParaRPr lang="en-US" sz="1800" dirty="0"/>
          </a:p>
        </p:txBody>
      </p:sp>
      <p:sp>
        <p:nvSpPr>
          <p:cNvPr id="4" name="Text 2"/>
          <p:cNvSpPr/>
          <p:nvPr/>
        </p:nvSpPr>
        <p:spPr>
          <a:xfrm>
            <a:off x="457200" y="1097280"/>
            <a:ext cx="6858000" cy="320040"/>
          </a:xfrm>
          <a:prstGeom prst="rect">
            <a:avLst/>
          </a:prstGeom>
          <a:noFill/>
          <a:ln/>
        </p:spPr>
        <p:txBody>
          <a:bodyPr wrap="square" rtlCol="0" anchor="t"/>
          <a:lstStyle/>
          <a:p>
            <a:pPr marL="0" indent="0">
              <a:lnSpc>
                <a:spcPct val="112000"/>
              </a:lnSpc>
              <a:buNone/>
            </a:pPr>
            <a:r>
              <a:rPr lang="en-US" sz="1100" i="1" dirty="0">
                <a:solidFill>
                  <a:srgbClr val="1A1A1A"/>
                </a:solidFill>
                <a:latin typeface="Calibri" pitchFamily="34" charset="0"/>
                <a:ea typeface="Calibri" pitchFamily="34" charset="-122"/>
                <a:cs typeface="Calibri" pitchFamily="34" charset="-120"/>
              </a:rPr>
              <a:t>Prices in COP from I+D (Didacticas Electronicas, Medellin) and Bigtronica, early 2026. Ballpark - they drift.</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2797865357"/>
              </p:ext>
            </p:extLst>
          </p:nvPr>
        </p:nvGraphicFramePr>
        <p:xfrm>
          <a:off x="457200" y="1463040"/>
          <a:ext cx="6858000" cy="4169664"/>
        </p:xfrm>
        <a:graphic>
          <a:graphicData uri="http://schemas.openxmlformats.org/drawingml/2006/table">
            <a:tbl>
              <a:tblPr/>
              <a:tblGrid>
                <a:gridCol w="2834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Part</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Qty</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Note / price</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JGB37 12V 50RPM (40 kg*cm)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BTS7960 43A driver</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MG996R servo</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PCA9685 PWM driver</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Al round tube D25x2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~1.6 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Al round tube D20x2</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~0.9 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Steel rod D12 x 700</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Aluminum 2020 extrusion</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~3 m</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Rod-end ball joints M5</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Rim (PETG) + tire (TPU)</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6 ea</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4747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Raspberry Pi 4 + Arduino R4</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 ea</a:t>
                      </a: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6" name="Shape 3"/>
          <p:cNvSpPr/>
          <p:nvPr/>
        </p:nvSpPr>
        <p:spPr>
          <a:xfrm>
            <a:off x="457200" y="6263640"/>
            <a:ext cx="6858000" cy="1280160"/>
          </a:xfrm>
          <a:prstGeom prst="rect">
            <a:avLst/>
          </a:prstGeom>
          <a:solidFill>
            <a:srgbClr val="DCE6F2"/>
          </a:solidFill>
          <a:ln w="6350">
            <a:solidFill>
              <a:srgbClr val="AAAAAA"/>
            </a:solidFill>
            <a:prstDash val="solid"/>
          </a:ln>
        </p:spPr>
        <p:txBody>
          <a:bodyPr/>
          <a:lstStyle/>
          <a:p>
            <a:endParaRPr lang="es-CO"/>
          </a:p>
        </p:txBody>
      </p:sp>
      <p:sp>
        <p:nvSpPr>
          <p:cNvPr id="7" name="Text 4"/>
          <p:cNvSpPr/>
          <p:nvPr/>
        </p:nvSpPr>
        <p:spPr>
          <a:xfrm>
            <a:off x="548640" y="6336792"/>
            <a:ext cx="6675120" cy="1133856"/>
          </a:xfrm>
          <a:prstGeom prst="rect">
            <a:avLst/>
          </a:prstGeom>
          <a:noFill/>
          <a:ln/>
        </p:spPr>
        <p:txBody>
          <a:bodyPr wrap="square" rtlCol="0" anchor="t"/>
          <a:lstStyle/>
          <a:p>
            <a:pPr marL="0" indent="0">
              <a:buNone/>
            </a:pPr>
            <a:r>
              <a:rPr lang="en-US" sz="1000" b="1" dirty="0">
                <a:solidFill>
                  <a:srgbClr val="1A1A1A"/>
                </a:solidFill>
                <a:latin typeface="Calibri" pitchFamily="34" charset="0"/>
                <a:ea typeface="Calibri" pitchFamily="34" charset="-122"/>
                <a:cs typeface="Calibri" pitchFamily="34" charset="-120"/>
              </a:rPr>
              <a:t>Filament + where I'm sourcing
</a:t>
            </a:r>
            <a:r>
              <a:rPr lang="en-US" sz="900" dirty="0">
                <a:solidFill>
                  <a:srgbClr val="1A1A1A"/>
                </a:solidFill>
                <a:latin typeface="Calibri" pitchFamily="34" charset="0"/>
                <a:ea typeface="Calibri" pitchFamily="34" charset="-122"/>
                <a:cs typeface="Calibri" pitchFamily="34" charset="-120"/>
              </a:rPr>
              <a:t>~600 g PETG (joints, mounts, rims, bearing blocks, balancin, clamps) + ~250 g TPU 95A (tires). All suppliers are in Medellin: I+D (Suramericana + CC La Cascada), Bigtronica, El Palacio del Aluminio, Grupo Roldan, Electronilab. Steel rod + pins from any steel depot - I ask for 'barra calibrada D12'.</a:t>
            </a:r>
            <a:endParaRPr lang="en-US" sz="1000" dirty="0"/>
          </a:p>
        </p:txBody>
      </p:sp>
      <p:sp>
        <p:nvSpPr>
          <p:cNvPr id="8" name="Shape 5"/>
          <p:cNvSpPr/>
          <p:nvPr/>
        </p:nvSpPr>
        <p:spPr>
          <a:xfrm>
            <a:off x="457200" y="7726680"/>
            <a:ext cx="6858000" cy="1508760"/>
          </a:xfrm>
          <a:prstGeom prst="rect">
            <a:avLst/>
          </a:prstGeom>
          <a:solidFill>
            <a:srgbClr val="F4F4F0"/>
          </a:solidFill>
          <a:ln w="12700">
            <a:solidFill>
              <a:srgbClr val="999999"/>
            </a:solidFill>
            <a:prstDash val="dash"/>
          </a:ln>
        </p:spPr>
        <p:txBody>
          <a:bodyPr/>
          <a:lstStyle/>
          <a:p>
            <a:endParaRPr lang="es-CO"/>
          </a:p>
        </p:txBody>
      </p:sp>
      <p:sp>
        <p:nvSpPr>
          <p:cNvPr id="10" name="Shape 7"/>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1" name="Text 8"/>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2" name="Text 9"/>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3" name="Text 10"/>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06/30/2026</a:t>
            </a:r>
            <a:endParaRPr lang="en-US" sz="900" dirty="0"/>
          </a:p>
        </p:txBody>
      </p:sp>
      <p:sp>
        <p:nvSpPr>
          <p:cNvPr id="14" name="Text 11"/>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15</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Redesigning the wheel joint: bearing + real angles</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Borrowing from a proven reference</a:t>
            </a:r>
            <a:endParaRPr lang="en-US" sz="1100" dirty="0"/>
          </a:p>
        </p:txBody>
      </p:sp>
      <p:sp>
        <p:nvSpPr>
          <p:cNvPr id="5" name="Text 3"/>
          <p:cNvSpPr/>
          <p:nvPr/>
        </p:nvSpPr>
        <p:spPr>
          <a:xfrm>
            <a:off x="457200" y="1463040"/>
            <a:ext cx="6858000" cy="1097280"/>
          </a:xfrm>
          <a:prstGeom prst="rect">
            <a:avLst/>
          </a:prstGeom>
          <a:noFill/>
          <a:ln/>
        </p:spPr>
        <p:txBody>
          <a:bodyPr wrap="square" rtlCol="0" anchor="t"/>
          <a:lstStyle/>
          <a:p>
            <a:pPr marL="0" indent="0">
              <a:lnSpc>
                <a:spcPct val="112000"/>
              </a:lnSpc>
              <a:buNone/>
            </a:pPr>
            <a:r>
              <a:rPr lang="en-US" sz="1300" dirty="0">
                <a:solidFill>
                  <a:srgbClr val="1A1A1A"/>
                </a:solidFill>
                <a:latin typeface="Calibri" pitchFamily="34" charset="0"/>
                <a:ea typeface="Calibri" pitchFamily="34" charset="-122"/>
                <a:cs typeface="Calibri" pitchFamily="34" charset="-120"/>
              </a:rPr>
              <a:t>Instead of designing the steering knuckle from scratch, I pulled the geometry from the "Mars Rover Perseverance Replica" build (SolidWorks files, now in the Referencia folder) and reused their Servo coupler, Servo Horn, and Wheel Joint parts as-is. Checked my 37 mm gear motor (6 mm D-shaft, 31 mm bolt circle) against their "Wheel 1 Joint p2" cavity - exact fit, no scaling needed.</a:t>
            </a:r>
            <a:endParaRPr lang="en-US" sz="1300" dirty="0"/>
          </a:p>
        </p:txBody>
      </p:sp>
      <p:sp>
        <p:nvSpPr>
          <p:cNvPr id="6" name="Text 4"/>
          <p:cNvSpPr/>
          <p:nvPr/>
        </p:nvSpPr>
        <p:spPr>
          <a:xfrm>
            <a:off x="457200" y="26974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A bearing I don't have to buy</a:t>
            </a:r>
            <a:endParaRPr lang="en-US" sz="1100" dirty="0"/>
          </a:p>
        </p:txBody>
      </p:sp>
      <p:sp>
        <p:nvSpPr>
          <p:cNvPr id="7" name="Text 5"/>
          <p:cNvSpPr/>
          <p:nvPr/>
        </p:nvSpPr>
        <p:spPr>
          <a:xfrm>
            <a:off x="457200" y="3063240"/>
            <a:ext cx="6858000" cy="128016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The knuckle needed a bearing between the servo coupler and the wheel shaft. Instead of buying one, I generated a print-in-place ball bearing in OpenSCAD (BOSL2 library) sized to the "635" standard - ID5/OD19/W6mm, dumbbell rollers, 0.15mm clearance. Prints straight into the socket, no purchased part.</a:t>
            </a:r>
            <a:endParaRPr lang="en-US" sz="1250" dirty="0"/>
          </a:p>
        </p:txBody>
      </p:sp>
      <p:sp>
        <p:nvSpPr>
          <p:cNvPr id="8" name="Text 6"/>
          <p:cNvSpPr/>
          <p:nvPr/>
        </p:nvSpPr>
        <p:spPr>
          <a:xfrm>
            <a:off x="457200" y="448056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Getting the angle from the real model, not the docs</a:t>
            </a:r>
            <a:endParaRPr lang="en-US" sz="1100" dirty="0"/>
          </a:p>
        </p:txBody>
      </p:sp>
      <p:sp>
        <p:nvSpPr>
          <p:cNvPr id="9" name="Text 7"/>
          <p:cNvSpPr/>
          <p:nvPr/>
        </p:nvSpPr>
        <p:spPr>
          <a:xfrm>
            <a:off x="457200" y="4846320"/>
            <a:ext cx="6858000" cy="1188720"/>
          </a:xfrm>
          <a:prstGeom prst="rect">
            <a:avLst/>
          </a:prstGeom>
          <a:noFill/>
          <a:ln/>
        </p:spPr>
        <p:txBody>
          <a:bodyPr wrap="square" rtlCol="0" anchor="t"/>
          <a:lstStyle/>
          <a:p>
            <a:pPr marL="0" indent="0">
              <a:lnSpc>
                <a:spcPct val="112000"/>
              </a:lnSpc>
              <a:buNone/>
            </a:pPr>
            <a:r>
              <a:rPr lang="en-US" sz="1250" b="1" dirty="0">
                <a:solidFill>
                  <a:srgbClr val="1A1A1A"/>
                </a:solidFill>
                <a:latin typeface="Calibri" pitchFamily="34" charset="0"/>
                <a:ea typeface="Calibri" pitchFamily="34" charset="-122"/>
                <a:cs typeface="Calibri" pitchFamily="34" charset="-120"/>
              </a:rPr>
              <a:t>The socket has to tilt so the servo's steering axis comes out perfectly vertical even though the rocker/bogie arm it sits on is angled. I stopped trusting my old notes and computed the real angle straight from the live Fusion assembly (walking occurrence.transform2 chains): 30deg at the front/rocker corner, 10deg at the rear/bogie corner.</a:t>
            </a:r>
            <a:endParaRPr lang="en-US" sz="1250" dirty="0"/>
          </a:p>
        </p:txBody>
      </p:sp>
      <p:sp>
        <p:nvSpPr>
          <p:cNvPr id="10" name="Shape 8"/>
          <p:cNvSpPr/>
          <p:nvPr/>
        </p:nvSpPr>
        <p:spPr>
          <a:xfrm>
            <a:off x="457200" y="6172200"/>
            <a:ext cx="6858000" cy="1188720"/>
          </a:xfrm>
          <a:prstGeom prst="rect">
            <a:avLst/>
          </a:prstGeom>
          <a:solidFill>
            <a:srgbClr val="D9E6D4"/>
          </a:solidFill>
          <a:ln w="6350">
            <a:solidFill>
              <a:srgbClr val="AAAAAA"/>
            </a:solidFill>
            <a:prstDash val="solid"/>
          </a:ln>
        </p:spPr>
        <p:txBody>
          <a:bodyPr/>
          <a:lstStyle/>
          <a:p>
            <a:endParaRPr lang="es-CO"/>
          </a:p>
        </p:txBody>
      </p:sp>
      <p:sp>
        <p:nvSpPr>
          <p:cNvPr id="11" name="Text 9"/>
          <p:cNvSpPr/>
          <p:nvPr/>
        </p:nvSpPr>
        <p:spPr>
          <a:xfrm>
            <a:off x="548640" y="6245352"/>
            <a:ext cx="6675120" cy="1042416"/>
          </a:xfrm>
          <a:prstGeom prst="rect">
            <a:avLst/>
          </a:prstGeom>
          <a:noFill/>
          <a:ln/>
        </p:spPr>
        <p:txBody>
          <a:bodyPr wrap="square" rtlCol="0" anchor="t"/>
          <a:lstStyle/>
          <a:p>
            <a:pPr marL="0" indent="0">
              <a:buNone/>
            </a:pPr>
            <a:endParaRPr lang="en-US" sz="1000" dirty="0"/>
            <a:r>
              <a:rPr lang="en-US" sz="1000" b="1" dirty="0">
                <a:solidFill>
                  <a:srgbClr val="1A1A1A"/>
                </a:solidFill>
                <a:latin typeface="Calibri" pitchFamily="34" charset="0"/>
                <a:ea typeface="Calibri" pitchFamily="34" charset="-122"/>
                <a:cs typeface="Calibri" pitchFamily="34" charset="-120"/>
              </a:rPr>
              <a:t>Mirrored for the other side
</a:t>
            </a:r>
            <a:r>
              <a:rPr lang="en-US" sz="900" dirty="0">
                <a:solidFill>
                  <a:srgbClr val="1A1A1A"/>
                </a:solidFill>
                <a:latin typeface="Calibri" pitchFamily="34" charset="0"/>
                <a:ea typeface="Calibri" pitchFamily="34" charset="-122"/>
                <a:cs typeface="Calibri" pitchFamily="34" charset="-120"/>
              </a:rPr>
              <a:t>Once the geometry was right on one side, I mirrored all three knuckle variants (JuntaLlanta, JuntaLlantaEstatica, JuntaLlantaDireccion) across the chassis plane and saved them as their own files (...I suffix) - so the 6-wheel layout is properly symmetric instead of hand-copied angles.</a:t>
            </a:r>
          </a:p>
        </p:txBody>
      </p:sp>
      <p:sp>
        <p:nvSpPr>
          <p:cNvPr id="14"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5"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6"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7"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08/09/2026</a:t>
            </a:r>
            <a:endParaRPr lang="en-US" sz="900" dirty="0"/>
          </a:p>
        </p:txBody>
      </p:sp>
      <p:sp>
        <p:nvSpPr>
          <p:cNvPr id="18"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16</a:t>
            </a:r>
            <a:endParaRPr lang="en-US" sz="900" dirty="0"/>
          </a:p>
        </p:txBody>
      </p:sp>
      <p:pic>
        <p:nvPicPr>
          <p:cNvPr id="19" name="Picture 18" descr="junta_llanta_direccion.png"/>
          <p:cNvPicPr>
            <a:picLocks noChangeAspect="1"/>
          </p:cNvPicPr>
          <p:nvPr/>
        </p:nvPicPr>
        <p:blipFill>
          <a:blip r:embed="rId2"/>
          <a:stretch>
            <a:fillRect/>
          </a:stretch>
        </p:blipFill>
        <p:spPr>
          <a:xfrm>
            <a:off x="2586200" y="7450000"/>
            <a:ext cx="2600000" cy="1950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Turning the shopping list into a real order</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 actually got bought</a:t>
            </a:r>
            <a:endParaRPr lang="en-US" sz="1100" dirty="0"/>
          </a:p>
        </p:txBody>
      </p:sp>
      <p:sp>
        <p:nvSpPr>
          <p:cNvPr id="5" name="Text 3"/>
          <p:cNvSpPr/>
          <p:nvPr/>
        </p:nvSpPr>
        <p:spPr>
          <a:xfrm>
            <a:off x="457200" y="1463040"/>
            <a:ext cx="6858000" cy="1097280"/>
          </a:xfrm>
          <a:prstGeom prst="rect">
            <a:avLst/>
          </a:prstGeom>
          <a:noFill/>
          <a:ln/>
        </p:spPr>
        <p:txBody>
          <a:bodyPr wrap="square" rtlCol="0" anchor="t"/>
          <a:lstStyle/>
          <a:p>
            <a:pPr marL="0" indent="0">
              <a:lnSpc>
                <a:spcPct val="112000"/>
              </a:lnSpc>
              <a:buNone/>
            </a:pPr>
            <a:r>
              <a:rPr lang="en-US" sz="1300" dirty="0">
                <a:solidFill>
                  <a:srgbClr val="1A1A1A"/>
                </a:solidFill>
                <a:latin typeface="Calibri" pitchFamily="34" charset="0"/>
                <a:ea typeface="Calibri" pitchFamily="34" charset="-122"/>
                <a:cs typeface="Calibri" pitchFamily="34" charset="-120"/>
              </a:rPr>
              <a:t>Placed a real order with I+D Didacticas Electronicas (Pedido S174842, COP $2,216,852 with IVA): all 6 JGB37 motors, 3 BTS7960 drivers, the steering servos, 13m of 2020 aluminum profile, PETG/TPU filament, and more. Updated bom_rover.csv line by line against the invoice - quantities and prices that were estimates before are now marked "Comprado" with the real numbers.</a:t>
            </a:r>
            <a:endParaRPr lang="en-US" sz="1300" dirty="0"/>
          </a:p>
        </p:txBody>
      </p:sp>
      <p:sp>
        <p:nvSpPr>
          <p:cNvPr id="6" name="Text 4"/>
          <p:cNvSpPr/>
          <p:nvPr/>
        </p:nvSpPr>
        <p:spPr>
          <a:xfrm>
            <a:off x="457200" y="26974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The encoder question, closed</a:t>
            </a:r>
            <a:endParaRPr lang="en-US" sz="1100" dirty="0"/>
          </a:p>
        </p:txBody>
      </p:sp>
      <p:sp>
        <p:nvSpPr>
          <p:cNvPr id="7" name="Text 5"/>
          <p:cNvSpPr/>
          <p:nvPr/>
        </p:nvSpPr>
        <p:spPr>
          <a:xfrm>
            <a:off x="457200" y="3063240"/>
            <a:ext cx="6858000" cy="128016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Page 13 left this open: whether I needed the Hall-encoder motor variant for SLAM odometry. Didn't have to chase it down - bought 2x 448 CPR optical encoders sized for the 37mm motor shaft instead, so odometry is solved independent of which JGB37 variant I run.</a:t>
            </a:r>
            <a:endParaRPr lang="en-US" sz="1250" dirty="0"/>
          </a:p>
        </p:txBody>
      </p:sp>
      <p:sp>
        <p:nvSpPr>
          <p:cNvPr id="8" name="Text 6"/>
          <p:cNvSpPr/>
          <p:nvPr/>
        </p:nvSpPr>
        <p:spPr>
          <a:xfrm>
            <a:off x="457200" y="448056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New brain: one board instead of two</a:t>
            </a:r>
            <a:endParaRPr lang="en-US" sz="1100" dirty="0"/>
          </a:p>
        </p:txBody>
      </p:sp>
      <p:sp>
        <p:nvSpPr>
          <p:cNvPr id="9" name="Text 7"/>
          <p:cNvSpPr/>
          <p:nvPr/>
        </p:nvSpPr>
        <p:spPr>
          <a:xfrm>
            <a:off x="457200" y="4846320"/>
            <a:ext cx="6858000" cy="1188720"/>
          </a:xfrm>
          <a:prstGeom prst="rect">
            <a:avLst/>
          </a:prstGeom>
          <a:noFill/>
          <a:ln/>
        </p:spPr>
        <p:txBody>
          <a:bodyPr wrap="square" rtlCol="0" anchor="t"/>
          <a:lstStyle/>
          <a:p>
            <a:pPr marL="0" indent="0">
              <a:lnSpc>
                <a:spcPct val="112000"/>
              </a:lnSpc>
              <a:buNone/>
            </a:pPr>
            <a:r>
              <a:rPr lang="en-US" sz="1250" b="1" dirty="0">
                <a:solidFill>
                  <a:srgbClr val="1A1A1A"/>
                </a:solidFill>
                <a:latin typeface="Calibri" pitchFamily="34" charset="0"/>
                <a:ea typeface="Calibri" pitchFamily="34" charset="-122"/>
                <a:cs typeface="Calibri" pitchFamily="34" charset="-120"/>
              </a:rPr>
              <a:t>Swapped the planned Raspberry Pi 4 + Arduino R4 pair for a single Arduino UNO Q - 2GB RAM, 16GB eMMC, a Linux-capable Cortex-A53 side plus a realtime Cortex-M33 side on one board. One less board to wire and power, no separate microSD to manage.</a:t>
            </a:r>
            <a:endParaRPr lang="en-US" sz="1250" dirty="0"/>
          </a:p>
        </p:txBody>
      </p:sp>
      <p:sp>
        <p:nvSpPr>
          <p:cNvPr id="10" name="Shape 8"/>
          <p:cNvSpPr/>
          <p:nvPr/>
        </p:nvSpPr>
        <p:spPr>
          <a:xfrm>
            <a:off x="457200" y="6172200"/>
            <a:ext cx="6858000" cy="1188720"/>
          </a:xfrm>
          <a:prstGeom prst="rect">
            <a:avLst/>
          </a:prstGeom>
          <a:solidFill>
            <a:srgbClr val="D9E6D4"/>
          </a:solidFill>
          <a:ln w="6350">
            <a:solidFill>
              <a:srgbClr val="AAAAAA"/>
            </a:solidFill>
            <a:prstDash val="solid"/>
          </a:ln>
        </p:spPr>
        <p:txBody>
          <a:bodyPr/>
          <a:lstStyle/>
          <a:p>
            <a:endParaRPr lang="es-CO"/>
          </a:p>
        </p:txBody>
      </p:sp>
      <p:sp>
        <p:nvSpPr>
          <p:cNvPr id="11" name="Text 9"/>
          <p:cNvSpPr/>
          <p:nvPr/>
        </p:nvSpPr>
        <p:spPr>
          <a:xfrm>
            <a:off x="548640" y="6245352"/>
            <a:ext cx="6675120" cy="1042416"/>
          </a:xfrm>
          <a:prstGeom prst="rect">
            <a:avLst/>
          </a:prstGeom>
          <a:noFill/>
          <a:ln/>
        </p:spPr>
        <p:txBody>
          <a:bodyPr wrap="square" rtlCol="0" anchor="t"/>
          <a:lstStyle/>
          <a:p>
            <a:pPr marL="0" indent="0">
              <a:buNone/>
            </a:pPr>
            <a:endParaRPr lang="en-US" sz="1000" dirty="0"/>
            <a:r>
              <a:rPr lang="en-US" sz="1000" b="1" dirty="0">
                <a:solidFill>
                  <a:srgbClr val="1A1A1A"/>
                </a:solidFill>
                <a:latin typeface="Calibri" pitchFamily="34" charset="0"/>
                <a:ea typeface="Calibri" pitchFamily="34" charset="-122"/>
                <a:cs typeface="Calibri" pitchFamily="34" charset="-120"/>
              </a:rPr>
              <a:t>Still pending
</a:t>
            </a:r>
            <a:r>
              <a:rPr lang="en-US" sz="900" dirty="0">
                <a:solidFill>
                  <a:srgbClr val="1A1A1A"/>
                </a:solidFill>
                <a:latin typeface="Calibri" pitchFamily="34" charset="0"/>
                <a:ea typeface="Calibri" pitchFamily="34" charset="-122"/>
                <a:cs typeface="Calibri" pitchFamily="34" charset="-120"/>
              </a:rPr>
              <a:t>Chassis hardware (round tube, acrylic lid, most of the bolts), the battery + charger, and the lab sensors are still on the "Pendiente" list in the BOM - this order covered movilidad, chasis extrusion, filament, and the brain.</a:t>
            </a:r>
          </a:p>
        </p:txBody>
      </p:sp>
      <p:sp>
        <p:nvSpPr>
          <p:cNvPr id="14"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5"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6"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7"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08/09/2026</a:t>
            </a:r>
            <a:endParaRPr lang="en-US" sz="900" dirty="0"/>
          </a:p>
        </p:txBody>
      </p:sp>
      <p:sp>
        <p:nvSpPr>
          <p:cNvPr id="18"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17</a:t>
            </a:r>
            <a:endParaRPr lang="en-US" sz="900" dirty="0"/>
          </a:p>
        </p:txBody>
      </p:sp>
      <p:pic>
        <p:nvPicPr>
          <p:cNvPr id="19" name="Picture 18" descr="ensamble_llanta_largo.png"/>
          <p:cNvPicPr>
            <a:picLocks noChangeAspect="1"/>
          </p:cNvPicPr>
          <p:nvPr/>
        </p:nvPicPr>
        <p:blipFill>
          <a:blip r:embed="rId2"/>
          <a:stretch>
            <a:fillRect/>
          </a:stretch>
        </p:blipFill>
        <p:spPr>
          <a:xfrm>
            <a:off x="2586200" y="7450000"/>
            <a:ext cx="2600000" cy="1950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457200" y="457200"/>
            <a:ext cx="6858000" cy="457200"/>
          </a:xfrm>
          <a:prstGeom prst="rect">
            <a:avLst/>
          </a:prstGeom>
          <a:solidFill>
            <a:srgbClr val="A6192E"/>
          </a:solidFill>
          <a:ln/>
        </p:spPr>
        <p:txBody>
          <a:bodyPr/>
          <a:lstStyle/>
          <a:p>
            <a:endParaRPr lang="es-CO"/>
          </a:p>
        </p:txBody>
      </p:sp>
      <p:sp>
        <p:nvSpPr>
          <p:cNvPr id="3" name="Text 1"/>
          <p:cNvSpPr/>
          <p:nvPr/>
        </p:nvSpPr>
        <p:spPr>
          <a:xfrm>
            <a:off x="594360" y="457200"/>
            <a:ext cx="658368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Where I'm at &amp; what's next</a:t>
            </a:r>
            <a:endParaRPr lang="en-US" sz="1800" dirty="0"/>
          </a:p>
        </p:txBody>
      </p:sp>
      <p:sp>
        <p:nvSpPr>
          <p:cNvPr id="4" name="Text 2"/>
          <p:cNvSpPr/>
          <p:nvPr/>
        </p:nvSpPr>
        <p:spPr>
          <a:xfrm>
            <a:off x="457200" y="1097280"/>
            <a:ext cx="1828800" cy="274320"/>
          </a:xfrm>
          <a:prstGeom prst="rect">
            <a:avLst/>
          </a:prstGeom>
          <a:solidFill>
            <a:srgbClr val="E8929C"/>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What's actually built</a:t>
            </a:r>
            <a:endParaRPr lang="en-US" sz="1100" dirty="0"/>
          </a:p>
        </p:txBody>
      </p:sp>
      <p:sp>
        <p:nvSpPr>
          <p:cNvPr id="5" name="Text 3"/>
          <p:cNvSpPr/>
          <p:nvPr/>
        </p:nvSpPr>
        <p:spPr>
          <a:xfrm>
            <a:off x="457200" y="1463040"/>
            <a:ext cx="6858000" cy="1097280"/>
          </a:xfrm>
          <a:prstGeom prst="rect">
            <a:avLst/>
          </a:prstGeom>
          <a:noFill/>
          <a:ln/>
        </p:spPr>
        <p:txBody>
          <a:bodyPr wrap="square" rtlCol="0" anchor="t"/>
          <a:lstStyle/>
          <a:p>
            <a:pPr marL="0" indent="0">
              <a:lnSpc>
                <a:spcPct val="112000"/>
              </a:lnSpc>
              <a:buNone/>
            </a:pPr>
            <a:r>
              <a:rPr lang="en-US" sz="1300" dirty="0">
                <a:solidFill>
                  <a:srgbClr val="1A1A1A"/>
                </a:solidFill>
                <a:latin typeface="Calibri" pitchFamily="34" charset="0"/>
                <a:ea typeface="Calibri" pitchFamily="34" charset="-122"/>
                <a:cs typeface="Calibri" pitchFamily="34" charset="-120"/>
              </a:rPr>
              <a:t>All three wheel-joint variants (JuntaLlanta, JuntaLlantaEstatica, JuntaLlantaDireccion) have their final socket geometry, sized and angled off the real assembly, plus mirrored left-side copies so the 6-wheel layout is symmetric. The steering knuckle carries a printed bearing instead of a bought one, and I validated the mount against a real MG995 servo in a standalone test assembly first.</a:t>
            </a:r>
            <a:endParaRPr lang="en-US" sz="1300" dirty="0"/>
          </a:p>
        </p:txBody>
      </p:sp>
      <p:sp>
        <p:nvSpPr>
          <p:cNvPr id="6" name="Text 4"/>
          <p:cNvSpPr/>
          <p:nvPr/>
        </p:nvSpPr>
        <p:spPr>
          <a:xfrm>
            <a:off x="457200" y="2697480"/>
            <a:ext cx="1828800" cy="274320"/>
          </a:xfrm>
          <a:prstGeom prst="rect">
            <a:avLst/>
          </a:prstGeom>
          <a:solidFill>
            <a:srgbClr val="FCEFA6"/>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What's ordered vs. what's still pending</a:t>
            </a:r>
            <a:endParaRPr lang="en-US" sz="1100" dirty="0"/>
          </a:p>
        </p:txBody>
      </p:sp>
      <p:sp>
        <p:nvSpPr>
          <p:cNvPr id="7" name="Text 5"/>
          <p:cNvSpPr/>
          <p:nvPr/>
        </p:nvSpPr>
        <p:spPr>
          <a:xfrm>
            <a:off x="457200" y="3063240"/>
            <a:ext cx="6858000" cy="1280160"/>
          </a:xfrm>
          <a:prstGeom prst="rect">
            <a:avLst/>
          </a:prstGeom>
          <a:noFill/>
          <a:ln/>
        </p:spPr>
        <p:txBody>
          <a:bodyPr wrap="square" rtlCol="0" anchor="t"/>
          <a:lstStyle/>
          <a:p>
            <a:pPr marL="0" indent="0">
              <a:lnSpc>
                <a:spcPct val="112000"/>
              </a:lnSpc>
              <a:buNone/>
            </a:pPr>
            <a:r>
              <a:rPr lang="en-US" sz="1250" dirty="0">
                <a:solidFill>
                  <a:srgbClr val="1A1A1A"/>
                </a:solidFill>
                <a:latin typeface="Calibri" pitchFamily="34" charset="0"/>
                <a:ea typeface="Calibri" pitchFamily="34" charset="-122"/>
                <a:cs typeface="Calibri" pitchFamily="34" charset="-120"/>
              </a:rPr>
              <a:t>Movilidad electronics, chassis extrusion, filament, and the brain are bought (bom_rover.csv, Pedido S174842). Still pending: round tube + steel axle for the differential, the acrylic/MDF lid, the battery + charger, and the lab module hardware (color sensor, pumps, syringe dispenser).</a:t>
            </a:r>
            <a:endParaRPr lang="en-US" sz="1250" dirty="0"/>
          </a:p>
        </p:txBody>
      </p:sp>
      <p:sp>
        <p:nvSpPr>
          <p:cNvPr id="8" name="Text 6"/>
          <p:cNvSpPr/>
          <p:nvPr/>
        </p:nvSpPr>
        <p:spPr>
          <a:xfrm>
            <a:off x="457200" y="4480560"/>
            <a:ext cx="1828800" cy="274320"/>
          </a:xfrm>
          <a:prstGeom prst="rect">
            <a:avLst/>
          </a:prstGeom>
          <a:solidFill>
            <a:srgbClr val="D9E6D4"/>
          </a:solid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Next up</a:t>
            </a:r>
            <a:endParaRPr lang="en-US" sz="1100" dirty="0"/>
          </a:p>
        </p:txBody>
      </p:sp>
      <p:sp>
        <p:nvSpPr>
          <p:cNvPr id="9" name="Text 7"/>
          <p:cNvSpPr/>
          <p:nvPr/>
        </p:nvSpPr>
        <p:spPr>
          <a:xfrm>
            <a:off x="457200" y="4846320"/>
            <a:ext cx="6858000" cy="1188720"/>
          </a:xfrm>
          <a:prstGeom prst="rect">
            <a:avLst/>
          </a:prstGeom>
          <a:noFill/>
          <a:ln/>
        </p:spPr>
        <p:txBody>
          <a:bodyPr wrap="square" rtlCol="0" anchor="t"/>
          <a:lstStyle/>
          <a:p>
            <a:pPr marL="0" indent="0">
              <a:lnSpc>
                <a:spcPct val="112000"/>
              </a:lnSpc>
              <a:buNone/>
            </a:pPr>
            <a:r>
              <a:rPr lang="en-US" sz="1250" b="1" dirty="0">
                <a:solidFill>
                  <a:srgbClr val="1A1A1A"/>
                </a:solidFill>
                <a:latin typeface="Calibri" pitchFamily="34" charset="0"/>
                <a:ea typeface="Calibri" pitchFamily="34" charset="-122"/>
                <a:cs typeface="Calibri" pitchFamily="34" charset="-120"/>
              </a:rPr>
              <a:t>Finish the 4 remaining wheel-corner assemblies as real linked-component Fusion assemblies (not flattened single-body hacks), using Ensamble llanta / Ensamble llanta Largo as templates. Then close out the differential/balancin hardware and start on the chassis build.</a:t>
            </a:r>
            <a:endParaRPr lang="en-US" sz="1250" dirty="0"/>
          </a:p>
        </p:txBody>
      </p:sp>
      <p:sp>
        <p:nvSpPr>
          <p:cNvPr id="10" name="Shape 8"/>
          <p:cNvSpPr/>
          <p:nvPr/>
        </p:nvSpPr>
        <p:spPr>
          <a:xfrm>
            <a:off x="457200" y="6172200"/>
            <a:ext cx="6858000" cy="1188720"/>
          </a:xfrm>
          <a:prstGeom prst="rect">
            <a:avLst/>
          </a:prstGeom>
          <a:solidFill>
            <a:srgbClr val="D9E6D4"/>
          </a:solidFill>
          <a:ln w="6350">
            <a:solidFill>
              <a:srgbClr val="AAAAAA"/>
            </a:solidFill>
            <a:prstDash val="solid"/>
          </a:ln>
        </p:spPr>
        <p:txBody>
          <a:bodyPr/>
          <a:lstStyle/>
          <a:p>
            <a:endParaRPr lang="es-CO"/>
          </a:p>
        </p:txBody>
      </p:sp>
      <p:sp>
        <p:nvSpPr>
          <p:cNvPr id="11" name="Text 9"/>
          <p:cNvSpPr/>
          <p:nvPr/>
        </p:nvSpPr>
        <p:spPr>
          <a:xfrm>
            <a:off x="548640" y="6245352"/>
            <a:ext cx="6675120" cy="1042416"/>
          </a:xfrm>
          <a:prstGeom prst="rect">
            <a:avLst/>
          </a:prstGeom>
          <a:noFill/>
          <a:ln/>
        </p:spPr>
        <p:txBody>
          <a:bodyPr wrap="square" rtlCol="0" anchor="t"/>
          <a:lstStyle/>
          <a:p>
            <a:pPr marL="0" indent="0">
              <a:buNone/>
            </a:pPr>
            <a:endParaRPr lang="en-US" sz="1000" dirty="0"/>
            <a:r>
              <a:rPr lang="en-US" sz="1000" b="1" dirty="0">
                <a:solidFill>
                  <a:srgbClr val="1A1A1A"/>
                </a:solidFill>
                <a:latin typeface="Calibri" pitchFamily="34" charset="0"/>
                <a:ea typeface="Calibri" pitchFamily="34" charset="-122"/>
                <a:cs typeface="Calibri" pitchFamily="34" charset="-120"/>
              </a:rPr>
              <a:t>A trick worth keeping
</a:t>
            </a:r>
            <a:r>
              <a:rPr lang="en-US" sz="900" dirty="0">
                <a:solidFill>
                  <a:srgbClr val="1A1A1A"/>
                </a:solidFill>
                <a:latin typeface="Calibri" pitchFamily="34" charset="0"/>
                <a:ea typeface="Calibri" pitchFamily="34" charset="-122"/>
                <a:cs typeface="Calibri" pitchFamily="34" charset="-120"/>
              </a:rPr>
              <a:t>For any live-assembly measurement (angles, positions), read it straight from occurrence.transform2 chains in the actual model instead of trusting old notes - the model changes faster than the docs do.</a:t>
            </a:r>
          </a:p>
        </p:txBody>
      </p:sp>
      <p:sp>
        <p:nvSpPr>
          <p:cNvPr id="14" name="Shape 12"/>
          <p:cNvSpPr/>
          <p:nvPr/>
        </p:nvSpPr>
        <p:spPr>
          <a:xfrm>
            <a:off x="457200" y="9464040"/>
            <a:ext cx="6858000" cy="0"/>
          </a:xfrm>
          <a:prstGeom prst="line">
            <a:avLst/>
          </a:prstGeom>
          <a:noFill/>
          <a:ln w="9525">
            <a:solidFill>
              <a:srgbClr val="1A1A1A"/>
            </a:solidFill>
            <a:prstDash val="solid"/>
          </a:ln>
        </p:spPr>
        <p:txBody>
          <a:bodyPr/>
          <a:lstStyle/>
          <a:p>
            <a:endParaRPr lang="es-CO"/>
          </a:p>
        </p:txBody>
      </p:sp>
      <p:sp>
        <p:nvSpPr>
          <p:cNvPr id="15" name="Text 13"/>
          <p:cNvSpPr/>
          <p:nvPr/>
        </p:nvSpPr>
        <p:spPr>
          <a:xfrm>
            <a:off x="457200" y="9509760"/>
            <a:ext cx="45720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Project: </a:t>
            </a:r>
            <a:r>
              <a:rPr lang="en-US" sz="900" dirty="0">
                <a:solidFill>
                  <a:srgbClr val="1A1A1A"/>
                </a:solidFill>
                <a:latin typeface="Calibri" pitchFamily="34" charset="0"/>
                <a:ea typeface="Calibri" pitchFamily="34" charset="-122"/>
                <a:cs typeface="Calibri" pitchFamily="34" charset="-120"/>
              </a:rPr>
              <a:t>ROVER "Target Fidelity"</a:t>
            </a:r>
            <a:endParaRPr lang="en-US" sz="900" dirty="0"/>
          </a:p>
        </p:txBody>
      </p:sp>
      <p:sp>
        <p:nvSpPr>
          <p:cNvPr id="16" name="Text 14"/>
          <p:cNvSpPr/>
          <p:nvPr/>
        </p:nvSpPr>
        <p:spPr>
          <a:xfrm>
            <a:off x="457200" y="9710928"/>
            <a:ext cx="32004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Name: </a:t>
            </a:r>
            <a:r>
              <a:rPr lang="en-US" sz="900" dirty="0">
                <a:solidFill>
                  <a:srgbClr val="1A1A1A"/>
                </a:solidFill>
                <a:latin typeface="Calibri" pitchFamily="34" charset="0"/>
                <a:ea typeface="Calibri" pitchFamily="34" charset="-122"/>
                <a:cs typeface="Calibri" pitchFamily="34" charset="-120"/>
              </a:rPr>
              <a:t>SEBDev</a:t>
            </a:r>
            <a:endParaRPr lang="en-US" sz="900" dirty="0"/>
          </a:p>
        </p:txBody>
      </p:sp>
      <p:sp>
        <p:nvSpPr>
          <p:cNvPr id="17" name="Text 15"/>
          <p:cNvSpPr/>
          <p:nvPr/>
        </p:nvSpPr>
        <p:spPr>
          <a:xfrm>
            <a:off x="4572000" y="9710928"/>
            <a:ext cx="1828800" cy="228600"/>
          </a:xfrm>
          <a:prstGeom prst="rect">
            <a:avLst/>
          </a:prstGeom>
          <a:noFill/>
          <a:ln/>
        </p:spPr>
        <p:txBody>
          <a:bodyPr wrap="square" rtlCol="0" anchor="ctr"/>
          <a:lstStyle/>
          <a:p>
            <a:pPr marL="0" indent="0">
              <a:buNone/>
            </a:pPr>
            <a:r>
              <a:rPr lang="en-US" sz="900" b="1" dirty="0">
                <a:solidFill>
                  <a:srgbClr val="1A1A1A"/>
                </a:solidFill>
                <a:latin typeface="Calibri" pitchFamily="34" charset="0"/>
                <a:ea typeface="Calibri" pitchFamily="34" charset="-122"/>
                <a:cs typeface="Calibri" pitchFamily="34" charset="-120"/>
              </a:rPr>
              <a:t>Date: </a:t>
            </a:r>
            <a:r>
              <a:rPr lang="en-US" sz="900" dirty="0">
                <a:solidFill>
                  <a:srgbClr val="1A1A1A"/>
                </a:solidFill>
                <a:latin typeface="Calibri" pitchFamily="34" charset="0"/>
                <a:ea typeface="Calibri" pitchFamily="34" charset="-122"/>
                <a:cs typeface="Calibri" pitchFamily="34" charset="-120"/>
              </a:rPr>
              <a:t>08/09/2026</a:t>
            </a:r>
            <a:endParaRPr lang="en-US" sz="900" dirty="0"/>
          </a:p>
        </p:txBody>
      </p:sp>
      <p:sp>
        <p:nvSpPr>
          <p:cNvPr id="18" name="Text 16"/>
          <p:cNvSpPr/>
          <p:nvPr/>
        </p:nvSpPr>
        <p:spPr>
          <a:xfrm>
            <a:off x="6400800" y="9710928"/>
            <a:ext cx="914400" cy="228600"/>
          </a:xfrm>
          <a:prstGeom prst="rect">
            <a:avLst/>
          </a:prstGeom>
          <a:noFill/>
          <a:ln/>
        </p:spPr>
        <p:txBody>
          <a:bodyPr wrap="square" rtlCol="0" anchor="ctr"/>
          <a:lstStyle/>
          <a:p>
            <a:pPr marL="0" indent="0" algn="r">
              <a:buNone/>
            </a:pPr>
            <a:r>
              <a:rPr lang="en-US" sz="900" dirty="0">
                <a:solidFill>
                  <a:srgbClr val="1A1A1A"/>
                </a:solidFill>
                <a:latin typeface="Calibri" pitchFamily="34" charset="0"/>
                <a:ea typeface="Calibri" pitchFamily="34" charset="-122"/>
                <a:cs typeface="Calibri" pitchFamily="34" charset="-120"/>
              </a:rPr>
              <a:t>Page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3293</Words>
  <Application>Microsoft Office PowerPoint</Application>
  <PresentationFormat>Personalizado</PresentationFormat>
  <Paragraphs>421</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Sebastian Ortiz</cp:lastModifiedBy>
  <cp:revision>3</cp:revision>
  <dcterms:created xsi:type="dcterms:W3CDTF">2026-07-01T02:23:16Z</dcterms:created>
  <dcterms:modified xsi:type="dcterms:W3CDTF">2026-07-01T23:28:10Z</dcterms:modified>
</cp:coreProperties>
</file>